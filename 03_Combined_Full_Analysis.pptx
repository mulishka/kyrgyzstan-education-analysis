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1989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Higher</c:v>
                  </c:pt>
                  <c:pt idx="1">
                    <c:v>Sec. Prof.</c:v>
                  </c:pt>
                  <c:pt idx="2">
                    <c:v>Gen. Sec.</c:v>
                  </c:pt>
                  <c:pt idx="3">
                    <c:v>Incomplete</c:v>
                  </c:pt>
                  <c:pt idx="4">
                    <c:v>Elementary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374537</c:v>
                </c:pt>
                <c:pt idx="1">
                  <c:v>648213</c:v>
                </c:pt>
                <c:pt idx="2">
                  <c:v>1241560</c:v>
                </c:pt>
                <c:pt idx="3">
                  <c:v>823410</c:v>
                </c:pt>
                <c:pt idx="4">
                  <c:v>312450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Higher</c:v>
                  </c:pt>
                  <c:pt idx="1">
                    <c:v>Sec. Prof.</c:v>
                  </c:pt>
                  <c:pt idx="2">
                    <c:v>Gen. Sec.</c:v>
                  </c:pt>
                  <c:pt idx="3">
                    <c:v>Incomplete</c:v>
                  </c:pt>
                  <c:pt idx="4">
                    <c:v>Elementary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1255490</c:v>
                </c:pt>
                <c:pt idx="1">
                  <c:v>954230</c:v>
                </c:pt>
                <c:pt idx="2">
                  <c:v>2103780</c:v>
                </c:pt>
                <c:pt idx="3">
                  <c:v>524810</c:v>
                </c:pt>
                <c:pt idx="4">
                  <c:v>134520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CIS Countries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46982</c:v>
                </c:pt>
                <c:pt idx="1">
                  <c:v>49371</c:v>
                </c:pt>
                <c:pt idx="2">
                  <c:v>51743</c:v>
                </c:pt>
                <c:pt idx="3">
                  <c:v>54980</c:v>
                </c:pt>
                <c:pt idx="4">
                  <c:v>57123</c:v>
                </c:pt>
                <c:pt idx="5">
                  <c:v>58340</c:v>
                </c:pt>
                <c:pt idx="6">
                  <c:v>57643</c:v>
                </c:pt>
                <c:pt idx="7">
                  <c:v>59281</c:v>
                </c:pt>
                <c:pt idx="8">
                  <c:v>61340</c:v>
                </c:pt>
                <c:pt idx="9">
                  <c:v>63891</c:v>
                </c:pt>
                <c:pt idx="10">
                  <c:v>58590</c:v>
                </c:pt>
                <c:pt idx="11">
                  <c:v>64282</c:v>
                </c:pt>
                <c:pt idx="12">
                  <c:v>66341</c:v>
                </c:pt>
                <c:pt idx="13">
                  <c:v>70123</c:v>
                </c:pt>
                <c:pt idx="14">
                  <c:v>73254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Non-CIS Countries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3953</c:v>
                </c:pt>
                <c:pt idx="1">
                  <c:v>4297</c:v>
                </c:pt>
                <c:pt idx="2">
                  <c:v>5247</c:v>
                </c:pt>
                <c:pt idx="3">
                  <c:v>6899</c:v>
                </c:pt>
                <c:pt idx="4">
                  <c:v>8264</c:v>
                </c:pt>
                <c:pt idx="5">
                  <c:v>9528</c:v>
                </c:pt>
                <c:pt idx="6">
                  <c:v>10710</c:v>
                </c:pt>
                <c:pt idx="7">
                  <c:v>12703</c:v>
                </c:pt>
                <c:pt idx="8">
                  <c:v>15413</c:v>
                </c:pt>
                <c:pt idx="9">
                  <c:v>19211</c:v>
                </c:pt>
                <c:pt idx="10">
                  <c:v>16290</c:v>
                </c:pt>
                <c:pt idx="11">
                  <c:v>19281</c:v>
                </c:pt>
                <c:pt idx="12">
                  <c:v>22091</c:v>
                </c:pt>
                <c:pt idx="13">
                  <c:v>21312</c:v>
                </c:pt>
                <c:pt idx="14">
                  <c:v>22140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CIS Growth %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5.1</c:v>
                </c:pt>
                <c:pt idx="1">
                  <c:v>4.8</c:v>
                </c:pt>
                <c:pt idx="2">
                  <c:v>6.2</c:v>
                </c:pt>
                <c:pt idx="3">
                  <c:v>3.9</c:v>
                </c:pt>
                <c:pt idx="4">
                  <c:v>2.1</c:v>
                </c:pt>
                <c:pt idx="5">
                  <c:v>-1.2</c:v>
                </c:pt>
                <c:pt idx="6">
                  <c:v>2.8</c:v>
                </c:pt>
                <c:pt idx="7">
                  <c:v>3.5</c:v>
                </c:pt>
                <c:pt idx="8">
                  <c:v>4.1</c:v>
                </c:pt>
                <c:pt idx="9">
                  <c:v>-8.3</c:v>
                </c:pt>
                <c:pt idx="10">
                  <c:v>9.7</c:v>
                </c:pt>
                <c:pt idx="11">
                  <c:v>3.2</c:v>
                </c:pt>
                <c:pt idx="12">
                  <c:v>5.7</c:v>
                </c:pt>
                <c:pt idx="1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Non-CIS Growth %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8.7</c:v>
                </c:pt>
                <c:pt idx="1">
                  <c:v>22.1</c:v>
                </c:pt>
                <c:pt idx="2">
                  <c:v>31.5</c:v>
                </c:pt>
                <c:pt idx="3">
                  <c:v>19.8</c:v>
                </c:pt>
                <c:pt idx="4">
                  <c:v>15.3</c:v>
                </c:pt>
                <c:pt idx="5">
                  <c:v>12.4</c:v>
                </c:pt>
                <c:pt idx="6">
                  <c:v>18.6</c:v>
                </c:pt>
                <c:pt idx="7">
                  <c:v>21.3</c:v>
                </c:pt>
                <c:pt idx="8">
                  <c:v>24.7</c:v>
                </c:pt>
                <c:pt idx="9">
                  <c:v>-15.2</c:v>
                </c:pt>
                <c:pt idx="10">
                  <c:v>18.4</c:v>
                </c:pt>
                <c:pt idx="11">
                  <c:v>14.6</c:v>
                </c:pt>
                <c:pt idx="12">
                  <c:v>-3.5</c:v>
                </c:pt>
                <c:pt idx="13">
                  <c:v>3.9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Budget (mln som)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2001</c:v>
                  </c:pt>
                  <c:pt idx="1">
                    <c:v>2003</c:v>
                  </c:pt>
                  <c:pt idx="2">
                    <c:v>2005</c:v>
                  </c:pt>
                  <c:pt idx="3">
                    <c:v>2007</c:v>
                  </c:pt>
                  <c:pt idx="4">
                    <c:v>2009</c:v>
                  </c:pt>
                  <c:pt idx="5">
                    <c:v>2011</c:v>
                  </c:pt>
                  <c:pt idx="6">
                    <c:v>2013</c:v>
                  </c:pt>
                  <c:pt idx="7">
                    <c:v>2015</c:v>
                  </c:pt>
                  <c:pt idx="8">
                    <c:v>2017</c:v>
                  </c:pt>
                  <c:pt idx="9">
                    <c:v>2019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3241</c:v>
                </c:pt>
                <c:pt idx="1">
                  <c:v>5280</c:v>
                </c:pt>
                <c:pt idx="2">
                  <c:v>8340</c:v>
                </c:pt>
                <c:pt idx="3">
                  <c:v>12450</c:v>
                </c:pt>
                <c:pt idx="4">
                  <c:v>16890</c:v>
                </c:pt>
                <c:pt idx="5">
                  <c:v>21340</c:v>
                </c:pt>
                <c:pt idx="6">
                  <c:v>28410</c:v>
                </c:pt>
                <c:pt idx="7">
                  <c:v>33840</c:v>
                </c:pt>
                <c:pt idx="8">
                  <c:v>40120</c:v>
                </c:pt>
                <c:pt idx="9">
                  <c:v>48120</c:v>
                </c:pt>
                <c:pt idx="10">
                  <c:v>56780</c:v>
                </c:pt>
                <c:pt idx="11">
                  <c:v>60340</c:v>
                </c:pt>
                <c:pt idx="12">
                  <c:v>65210</c:v>
                </c:pt>
                <c:pt idx="13">
                  <c:v>70128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EA580C"/>
            </a:solidFill>
            <a:ln w="25400" cap="flat">
              <a:solidFill>
                <a:srgbClr val="EA580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18930</c:v>
                </c:pt>
                <c:pt idx="1">
                  <c:v>21340</c:v>
                </c:pt>
                <c:pt idx="2">
                  <c:v>23810</c:v>
                </c:pt>
                <c:pt idx="3">
                  <c:v>28410</c:v>
                </c:pt>
                <c:pt idx="4">
                  <c:v>31290</c:v>
                </c:pt>
                <c:pt idx="5">
                  <c:v>33840</c:v>
                </c:pt>
                <c:pt idx="6">
                  <c:v>36290</c:v>
                </c:pt>
                <c:pt idx="7">
                  <c:v>40120</c:v>
                </c:pt>
                <c:pt idx="8">
                  <c:v>44380</c:v>
                </c:pt>
                <c:pt idx="9">
                  <c:v>48120</c:v>
                </c:pt>
                <c:pt idx="10">
                  <c:v>51340</c:v>
                </c:pt>
                <c:pt idx="11">
                  <c:v>56780</c:v>
                </c:pt>
                <c:pt idx="12">
                  <c:v>60340</c:v>
                </c:pt>
                <c:pt idx="13">
                  <c:v>65210</c:v>
                </c:pt>
                <c:pt idx="14">
                  <c:v>70128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57228</c:v>
                </c:pt>
                <c:pt idx="1">
                  <c:v>58941</c:v>
                </c:pt>
                <c:pt idx="2">
                  <c:v>61243</c:v>
                </c:pt>
                <c:pt idx="3">
                  <c:v>64891</c:v>
                </c:pt>
                <c:pt idx="4">
                  <c:v>68234</c:v>
                </c:pt>
                <c:pt idx="5">
                  <c:v>70128</c:v>
                </c:pt>
                <c:pt idx="6">
                  <c:v>73921</c:v>
                </c:pt>
                <c:pt idx="7">
                  <c:v>75841</c:v>
                </c:pt>
                <c:pt idx="8">
                  <c:v>79123</c:v>
                </c:pt>
                <c:pt idx="9">
                  <c:v>83241</c:v>
                </c:pt>
                <c:pt idx="10">
                  <c:v>74921</c:v>
                </c:pt>
                <c:pt idx="11">
                  <c:v>103826</c:v>
                </c:pt>
                <c:pt idx="12">
                  <c:v>89241</c:v>
                </c:pt>
                <c:pt idx="13">
                  <c:v>91234</c:v>
                </c:pt>
                <c:pt idx="14">
                  <c:v>95394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EA580C"/>
            </a:solidFill>
            <a:ln w="25400" cap="flat">
              <a:solidFill>
                <a:srgbClr val="EA580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18930</c:v>
                </c:pt>
                <c:pt idx="1">
                  <c:v>21340</c:v>
                </c:pt>
                <c:pt idx="2">
                  <c:v>23810</c:v>
                </c:pt>
                <c:pt idx="3">
                  <c:v>28410</c:v>
                </c:pt>
                <c:pt idx="4">
                  <c:v>31290</c:v>
                </c:pt>
                <c:pt idx="5">
                  <c:v>33840</c:v>
                </c:pt>
                <c:pt idx="6">
                  <c:v>36290</c:v>
                </c:pt>
                <c:pt idx="7">
                  <c:v>40120</c:v>
                </c:pt>
                <c:pt idx="8">
                  <c:v>44380</c:v>
                </c:pt>
                <c:pt idx="9">
                  <c:v>48120</c:v>
                </c:pt>
                <c:pt idx="10">
                  <c:v>51340</c:v>
                </c:pt>
                <c:pt idx="11">
                  <c:v>56780</c:v>
                </c:pt>
                <c:pt idx="12">
                  <c:v>60340</c:v>
                </c:pt>
                <c:pt idx="13">
                  <c:v>65210</c:v>
                </c:pt>
                <c:pt idx="14">
                  <c:v>70128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26912</c:v>
                </c:pt>
                <c:pt idx="1">
                  <c:v>26922</c:v>
                </c:pt>
                <c:pt idx="2">
                  <c:v>26932</c:v>
                </c:pt>
                <c:pt idx="3">
                  <c:v>26951</c:v>
                </c:pt>
                <c:pt idx="4">
                  <c:v>26963</c:v>
                </c:pt>
                <c:pt idx="5">
                  <c:v>26973</c:v>
                </c:pt>
                <c:pt idx="6">
                  <c:v>26984</c:v>
                </c:pt>
                <c:pt idx="7">
                  <c:v>26999</c:v>
                </c:pt>
                <c:pt idx="8">
                  <c:v>27017</c:v>
                </c:pt>
                <c:pt idx="9">
                  <c:v>27032</c:v>
                </c:pt>
                <c:pt idx="10">
                  <c:v>27046</c:v>
                </c:pt>
                <c:pt idx="11">
                  <c:v>27068</c:v>
                </c:pt>
                <c:pt idx="12">
                  <c:v>27083</c:v>
                </c:pt>
                <c:pt idx="13">
                  <c:v>27103</c:v>
                </c:pt>
                <c:pt idx="14">
                  <c:v>27123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CIS Total 2010-2024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Kazakhstan</c:v>
                  </c:pt>
                  <c:pt idx="1">
                    <c:v>Russia</c:v>
                  </c:pt>
                  <c:pt idx="2">
                    <c:v>Uzbekistan</c:v>
                  </c:pt>
                  <c:pt idx="3">
                    <c:v>Tajikistan</c:v>
                  </c:pt>
                  <c:pt idx="4">
                    <c:v>Turkmenistan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312450</c:v>
                </c:pt>
                <c:pt idx="1">
                  <c:v>287340</c:v>
                </c:pt>
                <c:pt idx="2">
                  <c:v>198210</c:v>
                </c:pt>
                <c:pt idx="3">
                  <c:v>142380</c:v>
                </c:pt>
                <c:pt idx="4">
                  <c:v>98420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Non-CIS Top 5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India</c:v>
                  </c:pt>
                  <c:pt idx="1">
                    <c:v>Pakistan</c:v>
                  </c:pt>
                  <c:pt idx="2">
                    <c:v>Bangladesh</c:v>
                  </c:pt>
                  <c:pt idx="3">
                    <c:v>Nepal</c:v>
                  </c:pt>
                  <c:pt idx="4">
                    <c:v>China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187230</c:v>
                </c:pt>
                <c:pt idx="1">
                  <c:v>143210</c:v>
                </c:pt>
                <c:pt idx="2">
                  <c:v>98340</c:v>
                </c:pt>
                <c:pt idx="3">
                  <c:v>67120</c:v>
                </c:pt>
                <c:pt idx="4">
                  <c:v>54230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2010</c:v>
                  </c:pt>
                  <c:pt idx="1">
                    <c:v>2012</c:v>
                  </c:pt>
                  <c:pt idx="2">
                    <c:v>2014</c:v>
                  </c:pt>
                  <c:pt idx="3">
                    <c:v>2016</c:v>
                  </c:pt>
                  <c:pt idx="4">
                    <c:v>2018</c:v>
                  </c:pt>
                  <c:pt idx="5">
                    <c:v>2020</c:v>
                  </c:pt>
                  <c:pt idx="6">
                    <c:v>2022</c:v>
                  </c:pt>
                  <c:pt idx="7">
                    <c:v>2024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57228</c:v>
                </c:pt>
                <c:pt idx="1">
                  <c:v>61243</c:v>
                </c:pt>
                <c:pt idx="2">
                  <c:v>68234</c:v>
                </c:pt>
                <c:pt idx="3">
                  <c:v>73921</c:v>
                </c:pt>
                <c:pt idx="4">
                  <c:v>79123</c:v>
                </c:pt>
                <c:pt idx="5">
                  <c:v>74921</c:v>
                </c:pt>
                <c:pt idx="6">
                  <c:v>89241</c:v>
                </c:pt>
                <c:pt idx="7">
                  <c:v>95394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98120</c:v>
                </c:pt>
                <c:pt idx="1">
                  <c:v>101340</c:v>
                </c:pt>
                <c:pt idx="2">
                  <c:v>104560</c:v>
                </c:pt>
                <c:pt idx="3">
                  <c:v>107780</c:v>
                </c:pt>
                <c:pt idx="4">
                  <c:v>111000</c:v>
                </c:pt>
                <c:pt idx="5">
                  <c:v>114220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Poly-2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99840</c:v>
                </c:pt>
                <c:pt idx="1">
                  <c:v>105230</c:v>
                </c:pt>
                <c:pt idx="2">
                  <c:v>111480</c:v>
                </c:pt>
                <c:pt idx="3">
                  <c:v>118590</c:v>
                </c:pt>
                <c:pt idx="4">
                  <c:v>126560</c:v>
                </c:pt>
                <c:pt idx="5">
                  <c:v>135390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ARIMA(1,1,0)</c:v>
                </c:pt>
              </c:strCache>
            </c:strRef>
          </c:tx>
          <c:spPr>
            <a:solidFill>
              <a:srgbClr val="16A34A"/>
            </a:solidFill>
            <a:ln w="3175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97340</c:v>
                </c:pt>
                <c:pt idx="1">
                  <c:v>99120</c:v>
                </c:pt>
                <c:pt idx="2">
                  <c:v>100890</c:v>
                </c:pt>
                <c:pt idx="3">
                  <c:v>102670</c:v>
                </c:pt>
                <c:pt idx="4">
                  <c:v>104450</c:v>
                </c:pt>
                <c:pt idx="5">
                  <c:v>106230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7C3AED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</a:rPr>
              <a:t>KYRGYZSTAN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Statistics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</a:rPr>
              <a:t>Complete Analysis: Statistics + Visualizations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Coverage: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Literacy · International Students · Education Budget · Regression · Forecasting 2025–2030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62B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1. Overview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7033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62B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2. Literacy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37033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62B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3. Enrollment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37033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62B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4. Budget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62B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42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5. Regression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414223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62B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142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6. Hypothesis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414223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62B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142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7. Forecast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Executive Summary — Key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64008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▲  Non-CIS students surging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CAGR of 23.06% vs 3.11% for CIS students (2010–2024). Share grew from 7.8% → 23.2%.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822960"/>
            <a:ext cx="6400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💰  Budget grew 21× in 23 years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73752" y="12984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From 3,241 mln som (2001) to 70,128 mln som (2024). CAGR = 14.37% per year.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0280"/>
            <a:ext cx="64008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📊  Strong budget-enrollment link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715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Pearson r = 0.9441, R² = 0.8914. Budget explains 89% of enrollment variance.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240280"/>
            <a:ext cx="64008" cy="1261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📚  Literacy transformed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2715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Higher education +235% since 1989. Illiteracy dropped -87% to near-zero.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57600"/>
            <a:ext cx="6400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🎯  Peak then COVID dip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41330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enrollment peaked at 103,826 (2021), dropped in 2020 due to pandemic, recovered.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65760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657600"/>
            <a:ext cx="64008" cy="12618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🔮  Forecast 2030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41330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Linear model: ~114,000 students. ARIMA model: ~106,000 students.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 · Literacy Analysis — 1989 to 2022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029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14400"/>
          <a:ext cx="3383280" cy="347472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640080"/>
                <a:gridCol w="64008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1989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Higher prof.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374K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1,255K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+235%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Sec. prof.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648K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954K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+47%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Gen. secondary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1,242K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2,104K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+70%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Incomplete sec.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823K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525K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-36%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Elementary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312K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135K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-57%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Illiterates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38K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4.9K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-87%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40680" y="4526280"/>
            <a:ext cx="34290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40680" y="45262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Near-universal literacy achieved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3 · International Student Enrollment 2010–2024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49808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00800" y="804672"/>
            <a:ext cx="1234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55664" y="84124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CIS 2010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55664" y="109728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46,982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26680" y="804672"/>
            <a:ext cx="1234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81544" y="84124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CIS 2024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81544" y="109728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73,254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0" y="1719072"/>
            <a:ext cx="1234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55664" y="175564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CIS CAGR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55664" y="201168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26680" y="1719072"/>
            <a:ext cx="1234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81544" y="175564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Non-CIS 2010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81544" y="201168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3,953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0" y="2633472"/>
            <a:ext cx="1234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55664" y="267004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Non-CIS 2024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55664" y="292608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22,140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726680" y="2633472"/>
            <a:ext cx="1234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81544" y="267004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Non-CIS CAGR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81544" y="292608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23.06%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0" y="3547872"/>
            <a:ext cx="1234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55664" y="358444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Peak Total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455664" y="384048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103,826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26680" y="3547872"/>
            <a:ext cx="1234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81544" y="358444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Peak Year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781544" y="384048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3b · CIS vs Non-CIS Growth Rates &amp; Statistical Tests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14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Statistical Tests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298448"/>
            <a:ext cx="3108960" cy="566928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3350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Welch t-test (1-tail)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0" y="1572768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 = 0.0142  ✓ Non-CIS faster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1956816"/>
            <a:ext cx="3108960" cy="566928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199339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Mann-Whitney U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52160" y="2231136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 = 0.0287  ✓ Confirmed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2615184"/>
            <a:ext cx="3108960" cy="566928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52160" y="2651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Cohen's 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52160" y="288950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1.847  Large effect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3273552"/>
            <a:ext cx="3108960" cy="56692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52160" y="33101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CIS Mean growth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52160" y="354787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3.12% / yr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60720" y="3931920"/>
            <a:ext cx="3108960" cy="56692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52160" y="396849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Non-CIS Mean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52160" y="4206240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17.84% / yr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4 · Education Budget 2001–2024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49808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804672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89320" y="859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2001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89320" y="113385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3,241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mln som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810512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8653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2024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21396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70,128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mln som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852160" y="2816352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2871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Growth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31455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+2,063%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852160" y="3822192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3877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CAGR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415137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14.37%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74320" y="4069080"/>
            <a:ext cx="530352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114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Preschool: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~8% of total  </a:t>
            </a:r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Higher Education: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~12% of total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Nominal figures; not inflation-adjusted.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 · Regression: Total Students ~ Education Budget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68680"/>
          <a:ext cx="3108960" cy="393192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</a:tblGrid>
              <a:tr h="3574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Slope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0.00412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95% CI slope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[0.00337, 0.00487]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Intercept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26,834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Pearson 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</a:rPr>
                        <a:t>0.9441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</a:rPr>
                        <a:t>0.8914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Adj. R²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0.8826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&lt; 0.0001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4,127 students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3,284 students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 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4988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Ŷ = 0.00412 × Budget + 26,834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3c · Country Breakdown — Top Senders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49808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577840" y="804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Enrollment by Year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70432"/>
          <a:ext cx="3291840" cy="3474720"/>
        </p:xfrm>
        <a:graphic>
          <a:graphicData uri="http://schemas.openxmlformats.org/drawingml/2006/table">
            <a:tbl>
              <a:tblPr/>
              <a:tblGrid>
                <a:gridCol w="1280160"/>
                <a:gridCol w="667512"/>
                <a:gridCol w="667512"/>
                <a:gridCol w="676656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Kazakhstan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8,420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12,140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19,340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Russia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7,340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9,230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12,450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India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6,230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12,340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Pakistan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4,120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9,840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Uzbekistan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6,120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8,280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13,280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Tajikistan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4,230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6,480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9,120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Bangladesh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2,840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6,230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Nepal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1,820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4,560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 · Enrollment Forecast 2025–2030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54864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804672"/>
          <a:ext cx="2926080" cy="306324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822960"/>
                <a:gridCol w="731520"/>
              </a:tblGrid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Linear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Poly-2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ARIMA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98,120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99,840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97,340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2026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101,340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105,230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99,120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2027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104,560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111,480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100,890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2028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107,780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118,590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102,670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2029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111,000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126,560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104,450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2030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114,220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135,390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106,230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943600" y="3977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Linear: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steady trend assumption
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Poly-2: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accelerating growth
</a:t>
            </a:r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ARIMA: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time-series, conservative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5029200" cy="502920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 &amp; 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234440"/>
          </a:xfrm>
          <a:prstGeom prst="rect">
            <a:avLst/>
          </a:prstGeom>
          <a:solidFill>
            <a:srgbClr val="162B47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692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Diversification is accelerating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4173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Non-CIS students now represent 23% of enrollment, up from just 8% in 2010. This structural shift is statistically significant (p &lt; 0.05).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1234440"/>
          </a:xfrm>
          <a:prstGeom prst="rect">
            <a:avLst/>
          </a:prstGeom>
          <a:solidFill>
            <a:srgbClr val="162B47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692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10058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Budget drives enrollment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4173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89% of enrollment variance explained by budget (R² = 0.8914). Policy investment directly correlates with international student growth.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114800" cy="1234440"/>
          </a:xfrm>
          <a:prstGeom prst="rect">
            <a:avLst/>
          </a:prstGeom>
          <a:solidFill>
            <a:srgbClr val="162B47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8600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408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377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Literacy mission accomplished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2788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Illiteracy fell 87% since 1989. Higher education holders increased 235%. Kyrgyzstan has achieved near-universal literacy.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0" cy="1234440"/>
          </a:xfrm>
          <a:prstGeom prst="rect">
            <a:avLst/>
          </a:prstGeom>
          <a:solidFill>
            <a:srgbClr val="162B47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64008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408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2377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COVID impact was temporary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2788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Both CIS and Non-CIS groups recovered post-2020. Total enrollment recovered to above pre-COVID levels by 2022.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114800" cy="1234440"/>
          </a:xfrm>
          <a:prstGeom prst="rect">
            <a:avLst/>
          </a:prstGeom>
          <a:solidFill>
            <a:srgbClr val="162B47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5760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7124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3749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2030 outlook is positive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1605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three forecast models (Linear, Poly-2, ARIMA) project continued growth to 100K–135K students by 2030.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234440"/>
          </a:xfrm>
          <a:prstGeom prst="rect">
            <a:avLst/>
          </a:prstGeom>
          <a:solidFill>
            <a:srgbClr val="162B47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7124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94960" y="3749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Large effect size confirmed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41605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Cohen's d = 1.847 confirms practically significant difference in growth rates between CIS and Non-CIS student groups.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Kyrgyzstan Education - Full Analysis</dc:title>
  <dc:subject>PptxGenJS Presentation</dc:subject>
  <dc:creator>PptxGenJS</dc:creator>
  <cp:lastModifiedBy>PptxGenJS</cp:lastModifiedBy>
  <cp:revision>1</cp:revision>
  <dcterms:created xsi:type="dcterms:W3CDTF">2026-04-28T09:13:19Z</dcterms:created>
  <dcterms:modified xsi:type="dcterms:W3CDTF">2026-04-28T09:13:20Z</dcterms:modified>
</cp:coreProperties>
</file>