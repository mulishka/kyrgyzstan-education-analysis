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0"/>
            <a:ext cx="9144000" cy="841248"/>
          </a:xfrm>
          <a:prstGeom prst="rect">
            <a:avLst/>
          </a:prstGeom>
          <a:solidFill>
            <a:srgbClr val="0A1F3E"/>
          </a:solidFill>
          <a:ln w="12700">
            <a:solidFill>
              <a:srgbClr val="0A1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KYRGYZSTAN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Statistics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Statistical Analysis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4343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literacy.csv  ·  students_cis.csv  ·  students_non_cis.csv  ·  education_budget.csv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37744" y="841248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37744" y="841248"/>
            <a:ext cx="27432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10058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80,701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37744" y="17556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total enrollment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744" y="2167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36392" y="841248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36392" y="841248"/>
            <a:ext cx="27432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6392" y="10058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15.23%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136392" y="17556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Non-CIS CAGR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36392" y="2167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2010–2024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841248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841248"/>
            <a:ext cx="27432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0058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29.5×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035040" y="17556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growth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2167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2001–2024 nominal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7744" y="2734056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37744" y="2734056"/>
            <a:ext cx="27432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" y="289864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237744" y="36484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7744" y="40599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 vs Budget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36392" y="2734056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36392" y="2734056"/>
            <a:ext cx="27432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36392" y="289864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54.4%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3136392" y="36484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R²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36392" y="40599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→ Students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734056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734056"/>
            <a:ext cx="27432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89864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+351%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6035040" y="36484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education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35040" y="40599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1989–2022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Descriptive Statistics — International Students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3200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1828800"/>
              </a:tblGrid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(2010–2024)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19,904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32,145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25,173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10,167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25th percentile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12,952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(50th)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16,534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75th percentile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27,563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21,564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52,690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25,774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80,701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114800"/>
            <a:ext cx="8595360" cy="82296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133088"/>
            <a:ext cx="8412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Summary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CIS: 9,814 (2010) → 25,073 (2024) | Peak 57,103 (2021) | CAGR 6.93%   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Non-CIS: 3,366 (2010) → 24,480 (2024) | Peak 25,774 (2023) | CAGR 15.23%     </a:t>
            </a:r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13,180 (2010) → 49,553 (2024) | Peak 80,701 (2021) | CAGR 9.92%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Year-on-Year Growth Rates (%)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777240"/>
          <a:ext cx="8869680" cy="4206240"/>
        </p:xfrm>
        <a:graphic>
          <a:graphicData uri="http://schemas.openxmlformats.org/drawingml/2006/table">
            <a:tbl>
              <a:tblPr/>
              <a:tblGrid>
                <a:gridCol w="640080"/>
                <a:gridCol w="777240"/>
                <a:gridCol w="868680"/>
                <a:gridCol w="777240"/>
                <a:gridCol w="1325880"/>
                <a:gridCol w="1508760"/>
                <a:gridCol w="1371600"/>
              </a:tblGrid>
              <a:tr h="2628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Growth%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NonCIS Growth%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Growth%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13,180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10,167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-27.98%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-7.93%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-22.86%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11,263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+12.86%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+6.03%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+10.78%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11,662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+2.73%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+5.51%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+3.54%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8,466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12,723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+3.31%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+22.79%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+9.10%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14,535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+5.22%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+32.18%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+14.24%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14,714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-8.02%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+15.87%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16,534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-6.60%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+36.21%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+12.37%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10,862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19,626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+14.52%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+22.31%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+18.70%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21,049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15,547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36,596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+140.18%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+43.13%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+86.47%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43,889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19,529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63,418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+108.51%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+25.61%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+73.29%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57,103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23,598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80,701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+30.11%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+20.84%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+27.25%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46,353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25,321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71,674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-18.83%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+7.30%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-11.19%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25,774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55,827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-35.16%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+1.79%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-22.11%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24,480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49,553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-16.57%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-5.02%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-11.24%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CIS surge 2019–2021 reflects registration/data reclassification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Normality Tests &amp; Correlation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Normality Tests (α = 0.05)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4114800" cy="201168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731520"/>
                <a:gridCol w="640080"/>
              </a:tblGrid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W-stat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students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 students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students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budget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YoY growth%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 YoY growth%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777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&amp; Spearman Correlations</a:t>
            </a:r>
            <a:endParaRPr lang="en-US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15568"/>
          <a:ext cx="4206240" cy="155448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914400"/>
                <a:gridCol w="731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vs Budget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+0.7373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+0.9036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vs Budget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+0.6064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 vs Budget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+0.9093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+0.9786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vs Non-CIS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+0.8561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+0.7893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Correlation Matrix</a:t>
            </a:r>
            <a:endParaRPr lang="en-US" sz="12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547872"/>
          <a:ext cx="8595360" cy="146304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645920"/>
                <a:gridCol w="1645920"/>
                <a:gridCol w="1645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Students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 Students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Students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Students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 Students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Students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Linear Regression: Total Students ~ Education Budget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46888" y="7772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6888" y="777240"/>
            <a:ext cx="54864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" y="82296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6616" y="10241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0.82753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56616" y="13716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per 1 mln som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63240" y="7772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63240" y="777240"/>
            <a:ext cx="54864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82296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72968" y="10241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-1,936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879592" y="7772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79592" y="777240"/>
            <a:ext cx="54864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82296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(Pearson)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9320" y="10241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0.7373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46888" y="180136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6888" y="1801368"/>
            <a:ext cx="54864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" y="184708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" y="204825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0.5436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56616" y="23957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54.4% variance explained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063240" y="180136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063240" y="1801368"/>
            <a:ext cx="54864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72968" y="184708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R²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72968" y="204825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0.5085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879592" y="180136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79592" y="1801368"/>
            <a:ext cx="54864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184708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89320" y="204825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0.001709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989320" y="23957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46888" y="2825496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6888" y="2825496"/>
            <a:ext cx="54864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" y="2871216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Error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6616" y="307238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0.21030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3063240" y="2825496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063240" y="2825496"/>
            <a:ext cx="54864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72968" y="2871216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172968" y="307238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16,430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172968" y="341985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879592" y="2825496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879592" y="2825496"/>
            <a:ext cx="54864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89320" y="2871216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89320" y="307238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12,825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989320" y="341985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46888" y="3822192"/>
            <a:ext cx="8650224" cy="41148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84048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for slope: [0.37320, 1.28185]   ·   Equation: Ŷ = 0.82753 × Budget − 1,935.92   ·   n = 15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Hypothesis Testing — CIS vs Non-CIS Growth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 Descriptive Statistics (Annual YoY %)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3200400" cy="2286000"/>
        </p:xfrm>
        <a:graphic>
          <a:graphicData uri="http://schemas.openxmlformats.org/drawingml/2006/table">
            <a:tbl>
              <a:tblPr/>
              <a:tblGrid>
                <a:gridCol w="1280160"/>
                <a:gridCol w="960120"/>
                <a:gridCol w="960120"/>
              </a:tblGrid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-35.16%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-7.93%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140.18%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43.13%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749040" y="777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749040" y="1097280"/>
            <a:ext cx="5120640" cy="100584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858768" y="11430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t-test (one-tailed)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858768" y="13898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mean growth Non-CIS ≤ CIS   ·   t-statistic = 0.1141   ·   p (two-tailed) = 0.9107   ·   p (one-tailed) = 0.4553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995160" y="1234440"/>
            <a:ext cx="173736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95160" y="12344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49040" y="2194560"/>
            <a:ext cx="512064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858768" y="22402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 test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858768" y="248716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alternative   ·   U-statistic = 135.0   ·   p-value = 0.0468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995160" y="2331720"/>
            <a:ext cx="1737360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95160" y="23317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749040" y="3291840"/>
            <a:ext cx="51206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858768" y="33375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Effect Size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858768" y="35844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0.0431   ·   (small effect)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995160" y="3429000"/>
            <a:ext cx="1737360" cy="685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95160" y="34290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EFFECT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74320" y="4343400"/>
            <a:ext cx="859536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361688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Mann-Whitney U test (p=0.0468) rejects H₀ at α=0.05, but Welch t-test (p=0.4553) fails to reject. Mixed results due to CIS outliers (140% spike in 2019). Cohen's d = 0.04 indicates negligible practical effect.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Literacy Analysis — Census Years 1989–2022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3611880"/>
        </p:xfrm>
        <a:graphic>
          <a:graphicData uri="http://schemas.openxmlformats.org/drawingml/2006/table">
            <a:tbl>
              <a:tblPr/>
              <a:tblGrid>
                <a:gridCol w="2103120"/>
                <a:gridCol w="1188720"/>
                <a:gridCol w="1188720"/>
                <a:gridCol w="1188720"/>
                <a:gridCol w="1188720"/>
                <a:gridCol w="1737360"/>
              </a:tblGrid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89→22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pop. (15+)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2,661,901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3,090,680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3,738,226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4,645,716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+74.5%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professional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251,246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324,414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463,346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1,134,147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+351.4%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 higher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43,245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47,706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133,196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226,059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+422.8%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professional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418,716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333,181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264,208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819,150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+95.6%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general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1,040,494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1,545,626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1,968,846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1,607,987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+54.5%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 secondary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489,786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566,351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443,594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442,062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240,922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193,767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203,717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182,196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-24.4%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education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177,492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79,635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63,843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49,152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-72.3%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Illiterates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80,417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40,129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28,358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86,330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45312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Higher education: 251,246 → 1,134,147 (+351%)   ·   Illiterates: 80,417 → 86,330 (+7.4%)  ·  Near-universal literacy achieved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Education Budget — Statistical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6052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692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2001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128016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2,848 mln som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22960"/>
            <a:ext cx="416052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9692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2024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73752" y="128016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83,924 mln som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31720"/>
            <a:ext cx="416052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4780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" y="278892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2,847.2%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38912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2001–2024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33172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331720"/>
            <a:ext cx="416052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780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2001–2024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73752" y="278892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15.85% / yr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274320" y="384048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840480"/>
            <a:ext cx="416052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9867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Preschool (mean)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429768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3,635 mln som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38912" y="48463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~12.9% of total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84048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840480"/>
            <a:ext cx="416052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39867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Edu (mean)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73752" y="429768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3,655 mln som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873752" y="48463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~13.0% of total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Descriptive Statistics (mln som)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846320"/>
          <a:ext cx="8595360" cy="86868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2103120"/>
                <a:gridCol w="2103120"/>
              </a:tblGrid>
              <a:tr h="2171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Preschool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Edu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28,172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83,924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11,727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Complete Statistical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859536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4069080"/>
        </p:xfrm>
        <a:graphic>
          <a:graphicData uri="http://schemas.openxmlformats.org/drawingml/2006/table">
            <a:tbl>
              <a:tblPr/>
              <a:tblGrid>
                <a:gridCol w="5303520"/>
                <a:gridCol w="3291840"/>
              </a:tblGrid>
              <a:tr h="2543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E"/>
                    </a:solidFill>
                  </a:tcPr>
                </a:tc>
              </a:tr>
              <a:tr h="2543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students 2010 →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9,814 → 25,073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</a:tr>
              <a:tr h="2543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CAGR 2010–2024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6.93% per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543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 students 2010 →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3,366 → 24,480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</a:tr>
              <a:tr h="2543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 CAGR 2010–2024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15.23% per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543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total enrollment (year)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80,701 (2021)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</a:tr>
              <a:tr h="2543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r (Total vs Budget)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+0.7373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543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ρ (Total vs Budget)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+0.9036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</a:tr>
              <a:tr h="2543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0.5436 (54.4%)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543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Welch t-test p-value (one-tailed)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0.4553 → Fail to reject H₀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</a:tr>
              <a:tr h="2543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Mann-Whitney U p-value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0.0468 → Reject H₀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543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2001 (mln som)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</a:tr>
              <a:tr h="2543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2024 (mln som)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83,924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543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CAGR 2001–2024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15.85% per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</a:tr>
              <a:tr h="2543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education growth 1989→2022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+351.4%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543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Illiteracy change 1989→2022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+7.4% (80,417 → 86,330)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Kyrgyzstan Education Statistics</dc:title>
  <dc:subject>PptxGenJS Presentation</dc:subject>
  <dc:creator>PptxGenJS</dc:creator>
  <cp:lastModifiedBy>PptxGenJS</cp:lastModifiedBy>
  <cp:revision>1</cp:revision>
  <dcterms:created xsi:type="dcterms:W3CDTF">2026-04-28T10:19:41Z</dcterms:created>
  <dcterms:modified xsi:type="dcterms:W3CDTF">2026-04-28T10:19:41Z</dcterms:modified>
</cp:coreProperties>
</file>