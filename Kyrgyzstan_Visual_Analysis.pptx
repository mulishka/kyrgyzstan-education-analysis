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Statistics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Analysis  ·  2010–2030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Literacy &amp; Education Attainment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82696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International Student Enrollment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02152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Country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21608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Education Budget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41064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Statistical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Forecasts 2025–2030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literacy.csv · students_cis.csv · students_non_cis.csv · education_budget.csv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&amp; Education Attainment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analysis 1989 · 1999 · 2009 · 2022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Attainment by Level — Kyrgyzstan Census 1989–2022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professional education grew +351% (251K → 1.13M). General secondary peaked in 2009 then declined. Elementary and incomplete secondary contracted.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Shares &amp; Literacy Trend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548640"/>
            <a:ext cx="424281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548640"/>
            <a:ext cx="4242816" cy="411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population shares across census years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63440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 trend — Kyrgyzstan population aged 15+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Deep Dive — Levels &amp; Cross-Country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548640"/>
            <a:ext cx="424281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548640"/>
            <a:ext cx="4242816" cy="411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levels comparison across categories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63440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literacy rate trend 1989–2022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Enrollment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vs Non-CIS trends · 2010–2024 · 49,553 students in 2024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 — Stacked Total &amp; CIS/Non-CIS Share (2010–2024)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80,701 students in 2021. CIS share fell from 74% (2010) to ~50% (2024) as Non-CIS surged. Non-CIS CAGR: 15.23% vs CIS CAGR: 6.93%.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Area Chart — CIS &amp; Non-CIS Stacked (2010–2024)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 Non-CIS rise 2018–2024 largely driven by India and Pakistan. CIS peaked 2021 then declined as Uzbekistan enrollment fell.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 Rates — CIS vs Non-CIS (%)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 growth consistently positive. CIS highly volatile: +140% in 2019, +108% in 2020, then sharp decline post-2021. Note: CIS spike may reflect data reclassification.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Distribution — Box Plot &amp; Correlation Heatmap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548640"/>
            <a:ext cx="424281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548640"/>
            <a:ext cx="4242816" cy="411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growth highly dispersed (std 50%); Non-CIS tighter (std 15%)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63440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 matrix: Non-CIS vs Budget ρ=0.98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Breakdown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Origin-country analysis · Uzbekistan, India, Pakistan lead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Share of International Students — 2024 (49,553 total)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38.2% · India 25.4% · Pakistan 18.4% · Kazakhstan 5.6% · Russia 5.5%. Top 5 countries = 93% of all international students.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Total Enrollment 2010–2024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leads with ~200K cumulative students 2010–2024. India second at ~110K. Pakistan third at ~50K. Non-CIS share growing rapidly across all top-10 slots.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Countries — Individual Enrollment Trends 2010–2024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peaked ~51K (2021). India and Pakistan show consistent upward trends. Kazakhstan relatively stable. Russia and Tajikistan show modest growth.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Enrollment Heatmap — All Years × Countries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intensity reveals enrollment concentration. Uzbekistan dominates CIS block; India and Pakistan dominant in Non-CIS. Concentration risk clearly visible.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Budget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2,848 mln som (2001) → 83,924 mln som (2024) · CAGR 15.85%/yr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Budget Trend — Total, Preschool &amp; Higher (2001–2024)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 grew 29.5× in nominal terms (2001–2024). Preschool and Higher Education sub-budgets both grew substantially. Budget CAGR: 15.85% per year.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Trend Detail &amp; Regression vs Students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548640"/>
            <a:ext cx="424281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548640"/>
            <a:ext cx="4242816" cy="411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budget growth with sub-category breakdown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63440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trend overlaid with student enrollment trajectory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Regression · Hypothesis testing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Students vs Budget (Pearson &amp; Spearman)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 vs Budget: Pearson r=0.91, Spearman ρ=0.98. Total vs Budget: r=0.74, ρ=0.90. All correlations statistically significant (p&lt;0.05).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— Total Students ~ Education Budget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548640"/>
            <a:ext cx="424281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502920"/>
            <a:ext cx="43159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548640"/>
            <a:ext cx="4242816" cy="411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OLS: slope=0.83 students/mln som, R²=0.54, p=0.0017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63440" y="4873752"/>
            <a:ext cx="4315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diagnostics: residuals and model fit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Model — Total Students vs Education Budget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Ŷ = 0.82753 × Budget − 1,936   ·   R²=0.54   ·   RMSE=16,430   ·   95% CI slope: [0.37, 1.28]   ·   p=0.0017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2025–2030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Polynomial · ARIMA models for students and budget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International Students — Forecast 2025–2030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(R²=0.69): ~93K by 2030 · Poly-2 (R²=0.71): ~126K by 2030 · ARIMA(1,1,0): stable ~42K. Wide divergence signals structural uncertainty post-2021 peak.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vs Non-CIS Students — Forecast 2025–2030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 projected to continue growing. CIS forecast shows mean-reversion. Scenarios diverge significantly depending on model assumptions.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Budget — Forecast 2025–2030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502920"/>
            <a:ext cx="8814816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873752"/>
            <a:ext cx="86868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forecasts show continued growth based on 15.85% CAGR trend. Polynomial model projects accelerating nominal growth. Inflation-adjusted growth likely more modest.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122A50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4241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Enrollment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042416"/>
            <a:ext cx="6309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80,701 (2021); declined to 49,553 (2024). Non-CIS CAGR 15.23% vs CIS 6.93%.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9344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Origin shift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609344"/>
            <a:ext cx="6309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 share rose from 26% (2010) to 49% (2024). India &amp; Pakistan now dominant.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8412480" cy="502920"/>
          </a:xfrm>
          <a:prstGeom prst="rect">
            <a:avLst/>
          </a:prstGeom>
          <a:solidFill>
            <a:srgbClr val="122A50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176272"/>
            <a:ext cx="6309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83,924 mln som in 2024 — a 29.5× increase since 2001. CAGR 15.85%/yr.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841248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743200"/>
            <a:ext cx="6309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 vs Budget strongest: Spearman ρ=0.98. Budget drives Non-CIS growth.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8412480" cy="502920"/>
          </a:xfrm>
          <a:prstGeom prst="rect">
            <a:avLst/>
          </a:prstGeom>
          <a:solidFill>
            <a:srgbClr val="122A50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Literacy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310128"/>
            <a:ext cx="6309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+351% (1989→2022). Near-universal literacy achieved.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7705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Forecast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3877056"/>
            <a:ext cx="6309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model divergence by 2030: 42K–126K students depending on assumptions.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 Education Statistics — Visual Analysis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Kyrgyzstan Education — Visual Analysis</dc:title>
  <dc:subject>PptxGenJS Presentation</dc:subject>
  <dc:creator>PptxGenJS</dc:creator>
  <cp:lastModifiedBy>PptxGenJS</cp:lastModifiedBy>
  <cp:revision>1</cp:revision>
  <dcterms:created xsi:type="dcterms:W3CDTF">2026-04-28T10:35:34Z</dcterms:created>
  <dcterms:modified xsi:type="dcterms:W3CDTF">2026-04-28T10:35:34Z</dcterms:modified>
</cp:coreProperties>
</file>