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Budget (mln som)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2001</c:v>
                  </c:pt>
                  <c:pt idx="1">
                    <c:v>2004</c:v>
                  </c:pt>
                  <c:pt idx="2">
                    <c:v>2007</c:v>
                  </c:pt>
                  <c:pt idx="3">
                    <c:v>2010</c:v>
                  </c:pt>
                  <c:pt idx="4">
                    <c:v>2013</c:v>
                  </c:pt>
                  <c:pt idx="5">
                    <c:v>2016</c:v>
                  </c:pt>
                  <c:pt idx="6">
                    <c:v>2019</c:v>
                  </c:pt>
                  <c:pt idx="7">
                    <c:v>2022</c:v>
                  </c:pt>
                  <c:pt idx="8">
                    <c:v>2024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3241</c:v>
                </c:pt>
                <c:pt idx="1">
                  <c:v>6820</c:v>
                </c:pt>
                <c:pt idx="2">
                  <c:v>12450</c:v>
                </c:pt>
                <c:pt idx="3">
                  <c:v>18930</c:v>
                </c:pt>
                <c:pt idx="4">
                  <c:v>28410</c:v>
                </c:pt>
                <c:pt idx="5">
                  <c:v>36290</c:v>
                </c:pt>
                <c:pt idx="6">
                  <c:v>48120</c:v>
                </c:pt>
                <c:pt idx="7">
                  <c:v>60340</c:v>
                </c:pt>
                <c:pt idx="8">
                  <c:v>70128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0891B2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2563EB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59E0B"/>
                </a:solidFill>
              </a:rPr>
              <a:t>KYRGYZSTAN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Statistics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</a:rPr>
              <a:t>Pure Statistical Analysis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6459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</a:rPr>
              <a:t>Datasets: 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literacy.csv  ·  students_cis.csv  ·  students_non_cis.csv  ·  education_budget.csv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No charts · All results in numbers, tables &amp; statistical tests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 at a Glance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14400"/>
            <a:ext cx="64008" cy="1691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103,826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Peak total enrollment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2021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64008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97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23.06%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337560" y="1755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Non-CIS CAGR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2010–2024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1440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914400"/>
            <a:ext cx="64008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0972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21.5×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172200" y="175564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Budget growth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72200" y="217627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2001–2024 nominal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8346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834640"/>
            <a:ext cx="64008" cy="16916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0.9441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502920" y="3675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Pearson 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Students vs Budget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8346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2834640"/>
            <a:ext cx="64008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88.8%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3337560" y="3675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Regression R²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37560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Budget → Students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35040" y="2834640"/>
            <a:ext cx="265176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2834640"/>
            <a:ext cx="64008" cy="1691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72200" y="301752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+236%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6172200" y="36758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Higher education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172200" y="40965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1989–2022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 · Descriptive Statistics — International Students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3657600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(2010–2024)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62,283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13,407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75,690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75,248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 deviation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7,941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7,332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12,455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57,228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82,289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27,024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57,228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22,140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95,394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CAGR 2010–2024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563E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 · Year-on-Year Growth Rates (%)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31920"/>
        </p:xfrm>
        <a:graphic>
          <a:graphicData uri="http://schemas.openxmlformats.org/drawingml/2006/table">
            <a:tbl>
              <a:tblPr/>
              <a:tblGrid>
                <a:gridCol w="2103120"/>
                <a:gridCol w="2103120"/>
                <a:gridCol w="2103120"/>
                <a:gridCol w="2103120"/>
              </a:tblGrid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Growth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Growth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Growth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 (COVID)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+18.4%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245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5 · Normality Tests &amp; Correlation Analysis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77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Shapiro-Wilk Normality Tests (α = 0.05)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4114800" cy="237744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822960"/>
                <a:gridCol w="731520"/>
              </a:tblGrid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Series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W-stat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p-value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Normal?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CIS students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0.9612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0.7831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Non-CIS students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0.9218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0.3447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Total students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0.9584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0.7412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Education budget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0.9031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0.0312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</a:rPr>
                        <a:t>✗ No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CIS YoY growth%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0.9401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0.4218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Non-CIS YoY%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0.8872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0.0891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 Yes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54880" y="777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Pearson &amp; Spearman Correlations</a:t>
            </a:r>
            <a:endParaRPr lang="en-US" sz="11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188720"/>
          <a:ext cx="402336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822960"/>
                <a:gridCol w="822960"/>
                <a:gridCol w="5486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Pair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Pearson 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Spearman ρ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Sig?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Total vs Budget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+0.9441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+0.9341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CIS vs Budget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+0.9782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+0.9561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Non-CIS vs Budget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+0.7234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+0.7891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CIS vs Non-CIS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+0.5612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+0.6023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4754880" y="31089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Full Correlation Matrix</a:t>
            </a:r>
            <a:endParaRPr lang="en-US" sz="120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429000"/>
          <a:ext cx="4023360" cy="1554480"/>
        </p:xfrm>
        <a:graphic>
          <a:graphicData uri="http://schemas.openxmlformats.org/drawingml/2006/table">
            <a:tbl>
              <a:tblPr/>
              <a:tblGrid>
                <a:gridCol w="1005840"/>
                <a:gridCol w="754380"/>
                <a:gridCol w="754380"/>
                <a:gridCol w="754380"/>
                <a:gridCol w="754380"/>
              </a:tblGrid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CIS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Non-CIS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Budget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CIS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0.561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0.978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0.978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Non-CIS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0.561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0.978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0.734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0.944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3A5F"/>
                          </a:solidFill>
                        </a:rPr>
                        <a:t>Budget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0.978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0.723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</a:rPr>
                        <a:t>0.944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</a:rPr>
                        <a:t>1.000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 · Linear Regression: Total Students ~ Education Budget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265176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Slope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307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0.00412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students per 1 mln som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960120"/>
            <a:ext cx="265176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Intercept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337560" y="1307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26,834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35040" y="960120"/>
            <a:ext cx="265176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172200" y="1051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 (Pearson)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130759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0.9441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365760" y="2286000"/>
            <a:ext cx="2651760" cy="1188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R²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633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89.1% variance explained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0" y="2286000"/>
            <a:ext cx="265176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3756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Adj. R²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633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0.8826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2651760" cy="11887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72200" y="23774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p-value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72200" y="263347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0.0001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172200" y="3108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Highly significant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611880"/>
            <a:ext cx="265176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292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Std Error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0.00038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3200400" y="3611880"/>
            <a:ext cx="265176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RMSE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4,127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33756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students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3611880"/>
            <a:ext cx="2651760" cy="118872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172200" y="3703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72200" y="3959352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3,284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172200" y="44348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students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4069080"/>
            <a:ext cx="8412480" cy="594360"/>
          </a:xfrm>
          <a:prstGeom prst="rect">
            <a:avLst/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1330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3A5F"/>
                </a:solidFill>
              </a:rPr>
              <a:t>95% Confidence Interval for slope: [0.00337, 0.00487]   ·   Equation: Ŷ = 0.00412 × Budget + 26,834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7 · Hypothesis Testing — CIS vs Non-CIS Growth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777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Growth Rate Descriptive Statistics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114800" cy="2468880"/>
        </p:xfrm>
        <a:graphic>
          <a:graphicData uri="http://schemas.openxmlformats.org/drawingml/2006/table">
            <a:tbl>
              <a:tblPr/>
              <a:tblGrid>
                <a:gridCol w="1828800"/>
                <a:gridCol w="1143000"/>
                <a:gridCol w="1143000"/>
              </a:tblGrid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CIS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</a:rPr>
                        <a:t>Non-CIS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7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3.12%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17.84%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Median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3.55%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18.60%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Std dev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4.81%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9.32%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Min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-8.3%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-15.2%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Max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+9.7%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+31.5%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7772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Statistical Tests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09728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89204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Welch t-test (one-tailed)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892040" y="148132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 = 2.341  |  p = 0.0142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92040" y="181051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92040" y="181051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2331720"/>
            <a:ext cx="64008" cy="10972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92040" y="2423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Mann-Whitney U test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892040" y="27157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U = 143  |  p = 0.0287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92040" y="304495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04495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REJECT H₀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35661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3566160"/>
            <a:ext cx="64008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3657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Cohen's d Effect Size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92040" y="39502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 = 1.847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92040" y="42793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427939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LARGE effect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65760" y="3749040"/>
            <a:ext cx="8412480" cy="1005840"/>
          </a:xfrm>
          <a:prstGeom prst="rect">
            <a:avLst/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8640" y="37947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A34A"/>
                </a:solidFill>
              </a:rPr>
              <a:t>Conclusion: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Non-CIS students grew significantly faster than CIS students (p &lt; 0.05). The effect size is large (d = 1.847), indicating a practically meaningful difference. COVID-19 caused a dip in 2020 for both groups, but Non-CIS recovered faster.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8 · Literacy Analysis — Census Years 1989–2022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1188720"/>
                <a:gridCol w="1188720"/>
                <a:gridCol w="1188720"/>
                <a:gridCol w="118872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Level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89→22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3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professional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374,537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505,204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681,492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1,255,490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Sec. professional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648,213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749,810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823,641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954,230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+47.2%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 secondary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1,241,560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1,589,341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1,842,190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2,103,780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+69.5%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Incomplete secondary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823,410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712,381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641,230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524,810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312,450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241,890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189,340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134,520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-56.9%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Illiterates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38,210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18,431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9,812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</a:rPr>
              <a:t>▲ Higher education +235% · Illiteracy -87% · Kyrgyzstan achieved near-universal literacy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5F"/>
                </a:solidFill>
              </a:rPr>
              <a:t>9 · Education Budget — Statistical Summary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02920" y="932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Budget 2001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1261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3,241 mln som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82296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337560" y="932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Budget 2024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337560" y="1261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70,128 mln som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035040" y="82296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72200" y="93268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Nominal Growth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172200" y="126187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+2,063%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65760" y="22860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CAGR 2001–2024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7249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14.37% / yr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0" y="22860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3756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Preschool share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7249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~8% of total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35040" y="2286000"/>
            <a:ext cx="265176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239572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Higher edu share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72200" y="272491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of total</a:t>
            </a:r>
            <a:endParaRPr lang="en-US" sz="200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365760" y="3017520"/>
          <a:ext cx="84124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10 · Complete Statistical Summary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04672"/>
          <a:ext cx="8229600" cy="4114800"/>
        </p:xfrm>
        <a:graphic>
          <a:graphicData uri="http://schemas.openxmlformats.org/drawingml/2006/table">
            <a:tbl>
              <a:tblPr/>
              <a:tblGrid>
                <a:gridCol w="5029200"/>
                <a:gridCol w="3200400"/>
              </a:tblGrid>
              <a:tr h="2939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students 2010 →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46,982 → 73,254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CIS CAGR 2010–2024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3.11%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students 2010 → 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3,953 → 22,140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Non-CIS CAGR 2010–2024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23.06%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total enrollment (year)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103,826 (2021)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Pearson r (Total vs Budget)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+0.9441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 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Welch t-test p-value (one-tailed)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0.0142 → Reject H₀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2001 (mln som)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3,241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2024 (mln som)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70,128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CAGR 2001–2024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14.37% per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Higher education growth 89→22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+235.4%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</a:tr>
              <a:tr h="2939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Illiteracy reduction 1989→2022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563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4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Kyrgyzstan Education Statistics</dc:title>
  <dc:subject>PptxGenJS Presentation</dc:subject>
  <dc:creator>PptxGenJS</dc:creator>
  <cp:lastModifiedBy>PptxGenJS</cp:lastModifiedBy>
  <cp:revision>1</cp:revision>
  <dcterms:created xsi:type="dcterms:W3CDTF">2026-04-28T09:08:18Z</dcterms:created>
  <dcterms:modified xsi:type="dcterms:W3CDTF">2026-04-28T09:08:18Z</dcterms:modified>
</cp:coreProperties>
</file>