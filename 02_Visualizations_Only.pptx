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1.xml" ContentType="application/vnd.openxmlformats-officedocument.drawingml.chart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4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5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8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9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10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11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_rels/chart9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9.xlsx"/></Relationships>
</file>

<file path=ppt/charts/_rels/chart10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0.xlsx"/></Relationships>
</file>

<file path=ppt/charts/_rels/chart1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1989</c:v>
                </c:pt>
              </c:strCache>
            </c:strRef>
          </c:tx>
          <c:spPr>
            <a:solidFill>
              <a:srgbClr val="2563E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Higher</c:v>
                  </c:pt>
                  <c:pt idx="1">
                    <c:v>Sec. Professional</c:v>
                  </c:pt>
                  <c:pt idx="2">
                    <c:v>Gen. Secondary</c:v>
                  </c:pt>
                  <c:pt idx="3">
                    <c:v>Incomplete Sec.</c:v>
                  </c:pt>
                  <c:pt idx="4">
                    <c:v>Elementary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374537</c:v>
                </c:pt>
                <c:pt idx="1">
                  <c:v>648213</c:v>
                </c:pt>
                <c:pt idx="2">
                  <c:v>1241560</c:v>
                </c:pt>
                <c:pt idx="3">
                  <c:v>823410</c:v>
                </c:pt>
                <c:pt idx="4">
                  <c:v>312450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1999</c:v>
                </c:pt>
              </c:strCache>
            </c:strRef>
          </c:tx>
          <c:spPr>
            <a:solidFill>
              <a:srgbClr val="EA580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Higher</c:v>
                  </c:pt>
                  <c:pt idx="1">
                    <c:v>Sec. Professional</c:v>
                  </c:pt>
                  <c:pt idx="2">
                    <c:v>Gen. Secondary</c:v>
                  </c:pt>
                  <c:pt idx="3">
                    <c:v>Incomplete Sec.</c:v>
                  </c:pt>
                  <c:pt idx="4">
                    <c:v>Elementary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505204</c:v>
                </c:pt>
                <c:pt idx="1">
                  <c:v>749810</c:v>
                </c:pt>
                <c:pt idx="2">
                  <c:v>1589341</c:v>
                </c:pt>
                <c:pt idx="3">
                  <c:v>712381</c:v>
                </c:pt>
                <c:pt idx="4">
                  <c:v>241890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2009</c:v>
                </c:pt>
              </c:strCache>
            </c:strRef>
          </c:tx>
          <c:spPr>
            <a:solidFill>
              <a:srgbClr val="16A34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Higher</c:v>
                  </c:pt>
                  <c:pt idx="1">
                    <c:v>Sec. Professional</c:v>
                  </c:pt>
                  <c:pt idx="2">
                    <c:v>Gen. Secondary</c:v>
                  </c:pt>
                  <c:pt idx="3">
                    <c:v>Incomplete Sec.</c:v>
                  </c:pt>
                  <c:pt idx="4">
                    <c:v>Elementary</c:v>
                  </c:pt>
                </c:lvl>
              </c:multiLvlStrCache>
            </c:multiLvl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681492</c:v>
                </c:pt>
                <c:pt idx="1">
                  <c:v>823641</c:v>
                </c:pt>
                <c:pt idx="2">
                  <c:v>1842190</c:v>
                </c:pt>
                <c:pt idx="3">
                  <c:v>641230</c:v>
                </c:pt>
                <c:pt idx="4">
                  <c:v>189340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2022</c:v>
                </c:pt>
              </c:strCache>
            </c:strRef>
          </c:tx>
          <c:spPr>
            <a:solidFill>
              <a:srgbClr val="7C3AE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Higher</c:v>
                  </c:pt>
                  <c:pt idx="1">
                    <c:v>Sec. Professional</c:v>
                  </c:pt>
                  <c:pt idx="2">
                    <c:v>Gen. Secondary</c:v>
                  </c:pt>
                  <c:pt idx="3">
                    <c:v>Incomplete Sec.</c:v>
                  </c:pt>
                  <c:pt idx="4">
                    <c:v>Elementary</c:v>
                  </c:pt>
                </c:lvl>
              </c:multiLvlStrCache>
            </c:multiLvlStrRef>
          </c:cat>
          <c:val>
            <c:numRef>
              <c:f>Sheet1!$E$2:$E$6</c:f>
              <c:numCache>
                <c:formatCode>General</c:formatCode>
                <c:ptCount val="5"/>
                <c:pt idx="0">
                  <c:v>1255490</c:v>
                </c:pt>
                <c:pt idx="1">
                  <c:v>954230</c:v>
                </c:pt>
                <c:pt idx="2">
                  <c:v>2103780</c:v>
                </c:pt>
                <c:pt idx="3">
                  <c:v>524810</c:v>
                </c:pt>
                <c:pt idx="4">
                  <c:v>134520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800" b="0" i="0" u="none" strike="noStrike">
                <a:solidFill>
                  <a:srgbClr val="000000"/>
                </a:solidFill>
                <a:latin typeface="Arial"/>
              </a:rPr>
              <a:t>Higher Education Holders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Higher Education (persons)</c:v>
                </c:pt>
              </c:strCache>
            </c:strRef>
          </c:tx>
          <c:spPr>
            <a:solidFill>
              <a:srgbClr val="2563EB"/>
            </a:solidFill>
            <a:ln w="38100" cap="flat">
              <a:solidFill>
                <a:srgbClr val="2563EB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100" u="none">
                    <a:solidFill>
                      <a:srgbClr val="2563E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2563EB"/>
              </a:solidFill>
              <a:ln w="9525" cap="flat">
                <a:solidFill>
                  <a:srgbClr val="2563E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1989</c:v>
                  </c:pt>
                  <c:pt idx="1">
                    <c:v>1999</c:v>
                  </c:pt>
                  <c:pt idx="2">
                    <c:v>2009</c:v>
                  </c:pt>
                  <c:pt idx="3">
                    <c:v>2022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374537</c:v>
                </c:pt>
                <c:pt idx="1">
                  <c:v>505204</c:v>
                </c:pt>
                <c:pt idx="2">
                  <c:v>681492</c:v>
                </c:pt>
                <c:pt idx="3">
                  <c:v>1255490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1" i="0" strike="noStrike" sz="1100" u="none">
                  <a:solidFill>
                    <a:srgbClr val="2563E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800" b="0" i="0" u="none" strike="noStrike">
                <a:solidFill>
                  <a:srgbClr val="000000"/>
                </a:solidFill>
                <a:latin typeface="Arial"/>
              </a:rPr>
              <a:t>Illiterate Population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Illiterates (persons)</c:v>
                </c:pt>
              </c:strCache>
            </c:strRef>
          </c:tx>
          <c:spPr>
            <a:solidFill>
              <a:srgbClr val="DC2626"/>
            </a:solidFill>
            <a:ln w="38100" cap="flat">
              <a:solidFill>
                <a:srgbClr val="DC2626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100" u="none">
                    <a:solidFill>
                      <a:srgbClr val="DC2626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DC2626"/>
              </a:solidFill>
              <a:ln w="9525" cap="flat">
                <a:solidFill>
                  <a:srgbClr val="DC262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1989</c:v>
                  </c:pt>
                  <c:pt idx="1">
                    <c:v>1999</c:v>
                  </c:pt>
                  <c:pt idx="2">
                    <c:v>2009</c:v>
                  </c:pt>
                  <c:pt idx="3">
                    <c:v>2022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38210</c:v>
                </c:pt>
                <c:pt idx="1">
                  <c:v>18431</c:v>
                </c:pt>
                <c:pt idx="2">
                  <c:v>9812</c:v>
                </c:pt>
                <c:pt idx="3">
                  <c:v>4920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1" i="0" strike="noStrike" sz="1100" u="none">
                  <a:solidFill>
                    <a:srgbClr val="DC2626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CIS Countries</c:v>
                </c:pt>
              </c:strCache>
            </c:strRef>
          </c:tx>
          <c:spPr>
            <a:solidFill>
              <a:srgbClr val="2563E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Sheet1!$A$2:$A$16</c:f>
              <c:multiLvlStrCache>
                <c:ptCount val="15"/>
                <c:lvl>
                  <c:pt idx="0">
                    <c:v>2010</c:v>
                  </c:pt>
                  <c:pt idx="1">
                    <c:v>2011</c:v>
                  </c:pt>
                  <c:pt idx="2">
                    <c:v>2012</c:v>
                  </c:pt>
                  <c:pt idx="3">
                    <c:v>2013</c:v>
                  </c:pt>
                  <c:pt idx="4">
                    <c:v>2014</c:v>
                  </c:pt>
                  <c:pt idx="5">
                    <c:v>2015</c:v>
                  </c:pt>
                  <c:pt idx="6">
                    <c:v>2016</c:v>
                  </c:pt>
                  <c:pt idx="7">
                    <c:v>2017</c:v>
                  </c:pt>
                  <c:pt idx="8">
                    <c:v>2018</c:v>
                  </c:pt>
                  <c:pt idx="9">
                    <c:v>2019</c:v>
                  </c:pt>
                  <c:pt idx="10">
                    <c:v>2020</c:v>
                  </c:pt>
                  <c:pt idx="11">
                    <c:v>2021</c:v>
                  </c:pt>
                  <c:pt idx="12">
                    <c:v>2022</c:v>
                  </c:pt>
                  <c:pt idx="13">
                    <c:v>2023</c:v>
                  </c:pt>
                  <c:pt idx="14">
                    <c:v>2024</c:v>
                  </c:pt>
                </c:lvl>
              </c:multiLvlStrCache>
            </c:multiLvlStrRef>
          </c:cat>
          <c:val>
            <c:numRef>
              <c:f>Sheet1!$B$2:$B$16</c:f>
              <c:numCache>
                <c:formatCode>General</c:formatCode>
                <c:ptCount val="15"/>
                <c:pt idx="0">
                  <c:v>46982</c:v>
                </c:pt>
                <c:pt idx="1">
                  <c:v>49371</c:v>
                </c:pt>
                <c:pt idx="2">
                  <c:v>51743</c:v>
                </c:pt>
                <c:pt idx="3">
                  <c:v>54980</c:v>
                </c:pt>
                <c:pt idx="4">
                  <c:v>57123</c:v>
                </c:pt>
                <c:pt idx="5">
                  <c:v>58340</c:v>
                </c:pt>
                <c:pt idx="6">
                  <c:v>57643</c:v>
                </c:pt>
                <c:pt idx="7">
                  <c:v>59281</c:v>
                </c:pt>
                <c:pt idx="8">
                  <c:v>61340</c:v>
                </c:pt>
                <c:pt idx="9">
                  <c:v>63891</c:v>
                </c:pt>
                <c:pt idx="10">
                  <c:v>58590</c:v>
                </c:pt>
                <c:pt idx="11">
                  <c:v>64282</c:v>
                </c:pt>
                <c:pt idx="12">
                  <c:v>66341</c:v>
                </c:pt>
                <c:pt idx="13">
                  <c:v>70123</c:v>
                </c:pt>
                <c:pt idx="14">
                  <c:v>73254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Non-CIS Countries</c:v>
                </c:pt>
              </c:strCache>
            </c:strRef>
          </c:tx>
          <c:spPr>
            <a:solidFill>
              <a:srgbClr val="EA580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Sheet1!$A$2:$A$16</c:f>
              <c:multiLvlStrCache>
                <c:ptCount val="15"/>
                <c:lvl>
                  <c:pt idx="0">
                    <c:v>2010</c:v>
                  </c:pt>
                  <c:pt idx="1">
                    <c:v>2011</c:v>
                  </c:pt>
                  <c:pt idx="2">
                    <c:v>2012</c:v>
                  </c:pt>
                  <c:pt idx="3">
                    <c:v>2013</c:v>
                  </c:pt>
                  <c:pt idx="4">
                    <c:v>2014</c:v>
                  </c:pt>
                  <c:pt idx="5">
                    <c:v>2015</c:v>
                  </c:pt>
                  <c:pt idx="6">
                    <c:v>2016</c:v>
                  </c:pt>
                  <c:pt idx="7">
                    <c:v>2017</c:v>
                  </c:pt>
                  <c:pt idx="8">
                    <c:v>2018</c:v>
                  </c:pt>
                  <c:pt idx="9">
                    <c:v>2019</c:v>
                  </c:pt>
                  <c:pt idx="10">
                    <c:v>2020</c:v>
                  </c:pt>
                  <c:pt idx="11">
                    <c:v>2021</c:v>
                  </c:pt>
                  <c:pt idx="12">
                    <c:v>2022</c:v>
                  </c:pt>
                  <c:pt idx="13">
                    <c:v>2023</c:v>
                  </c:pt>
                  <c:pt idx="14">
                    <c:v>2024</c:v>
                  </c:pt>
                </c:lvl>
              </c:multiLvlStrCache>
            </c:multiLvlStrRef>
          </c:cat>
          <c:val>
            <c:numRef>
              <c:f>Sheet1!$C$2:$C$16</c:f>
              <c:numCache>
                <c:formatCode>General</c:formatCode>
                <c:ptCount val="15"/>
                <c:pt idx="0">
                  <c:v>3953</c:v>
                </c:pt>
                <c:pt idx="1">
                  <c:v>4297</c:v>
                </c:pt>
                <c:pt idx="2">
                  <c:v>5247</c:v>
                </c:pt>
                <c:pt idx="3">
                  <c:v>6899</c:v>
                </c:pt>
                <c:pt idx="4">
                  <c:v>8264</c:v>
                </c:pt>
                <c:pt idx="5">
                  <c:v>9528</c:v>
                </c:pt>
                <c:pt idx="6">
                  <c:v>10710</c:v>
                </c:pt>
                <c:pt idx="7">
                  <c:v>12703</c:v>
                </c:pt>
                <c:pt idx="8">
                  <c:v>15413</c:v>
                </c:pt>
                <c:pt idx="9">
                  <c:v>19211</c:v>
                </c:pt>
                <c:pt idx="10">
                  <c:v>16290</c:v>
                </c:pt>
                <c:pt idx="11">
                  <c:v>19281</c:v>
                </c:pt>
                <c:pt idx="12">
                  <c:v>22091</c:v>
                </c:pt>
                <c:pt idx="13">
                  <c:v>21312</c:v>
                </c:pt>
                <c:pt idx="14">
                  <c:v>22140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5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CIS</c:v>
                </c:pt>
              </c:strCache>
            </c:strRef>
          </c:tx>
          <c:spPr>
            <a:solidFill>
              <a:srgbClr val="2563E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Kazakhstan</c:v>
                  </c:pt>
                  <c:pt idx="1">
                    <c:v>Russia</c:v>
                  </c:pt>
                  <c:pt idx="2">
                    <c:v>Uzbekistan</c:v>
                  </c:pt>
                  <c:pt idx="3">
                    <c:v>Tajikistan</c:v>
                  </c:pt>
                  <c:pt idx="4">
                    <c:v>Turkmenistan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312450</c:v>
                </c:pt>
                <c:pt idx="1">
                  <c:v>287340</c:v>
                </c:pt>
                <c:pt idx="2">
                  <c:v>198210</c:v>
                </c:pt>
                <c:pt idx="3">
                  <c:v>142380</c:v>
                </c:pt>
                <c:pt idx="4">
                  <c:v>98420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Non-CIS</c:v>
                </c:pt>
              </c:strCache>
            </c:strRef>
          </c:tx>
          <c:spPr>
            <a:solidFill>
              <a:srgbClr val="EA580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India</c:v>
                  </c:pt>
                  <c:pt idx="1">
                    <c:v>Pakistan</c:v>
                  </c:pt>
                  <c:pt idx="2">
                    <c:v>Bangladesh</c:v>
                  </c:pt>
                  <c:pt idx="3">
                    <c:v>Nepal</c:v>
                  </c:pt>
                  <c:pt idx="4">
                    <c:v>China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187230</c:v>
                </c:pt>
                <c:pt idx="1">
                  <c:v>143210</c:v>
                </c:pt>
                <c:pt idx="2">
                  <c:v>98340</c:v>
                </c:pt>
                <c:pt idx="3">
                  <c:v>67120</c:v>
                </c:pt>
                <c:pt idx="4">
                  <c:v>54230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800" b="0" i="0" u="none" strike="noStrike">
                <a:solidFill>
                  <a:srgbClr val="000000"/>
                </a:solidFill>
                <a:latin typeface="Arial"/>
              </a:rPr>
              <a:t>2010 — CIS: 92.2% | Non-CIS: 7.8%</a:t>
            </a:r>
          </a:p>
        </c:rich>
      </c:tx>
      <c:layout/>
      <c:overlay val="0"/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Share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2563EB"/>
              </a:solidFill>
              <a:effectLst/>
            </c:spPr>
          </c:dPt>
          <c:dPt>
            <c:idx val="1"/>
            <c:bubble3D val="0"/>
            <c:spPr>
              <a:solidFill>
                <a:srgbClr val="EA580C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400" b="1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1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400" b="1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1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1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CIS Countries</c:v>
                </c:pt>
                <c:pt idx="1">
                  <c:v>Non-CIS Countries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92.2</c:v>
                </c:pt>
                <c:pt idx="1">
                  <c:v>7.8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800" b="0" i="0" u="none" strike="noStrike">
                <a:solidFill>
                  <a:srgbClr val="000000"/>
                </a:solidFill>
                <a:latin typeface="Arial"/>
              </a:rPr>
              <a:t>2024 — CIS: 76.8% | Non-CIS: 23.2%</a:t>
            </a:r>
          </a:p>
        </c:rich>
      </c:tx>
      <c:layout/>
      <c:overlay val="0"/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Share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2563EB"/>
              </a:solidFill>
              <a:effectLst/>
            </c:spPr>
          </c:dPt>
          <c:dPt>
            <c:idx val="1"/>
            <c:bubble3D val="0"/>
            <c:spPr>
              <a:solidFill>
                <a:srgbClr val="EA580C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400" b="1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1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400" b="1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1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1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CIS Countries</c:v>
                </c:pt>
                <c:pt idx="1">
                  <c:v>Non-CIS Countries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76.8</c:v>
                </c:pt>
                <c:pt idx="1">
                  <c:v>23.2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Total Budget</c:v>
                </c:pt>
              </c:strCache>
            </c:strRef>
          </c:tx>
          <c:spPr>
            <a:solidFill>
              <a:srgbClr val="2563EB"/>
            </a:solidFill>
            <a:ln w="31750" cap="flat">
              <a:solidFill>
                <a:srgbClr val="2563EB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2563EB"/>
              </a:solidFill>
              <a:ln w="9525" cap="flat">
                <a:solidFill>
                  <a:srgbClr val="2563E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Sheet1!$A$2:$A$25</c:f>
              <c:multiLvlStrCache>
                <c:ptCount val="24"/>
                <c:lvl>
                  <c:pt idx="0">
                    <c:v>2001</c:v>
                  </c:pt>
                  <c:pt idx="1">
                    <c:v>2002</c:v>
                  </c:pt>
                  <c:pt idx="2">
                    <c:v>2003</c:v>
                  </c:pt>
                  <c:pt idx="3">
                    <c:v>2004</c:v>
                  </c:pt>
                  <c:pt idx="4">
                    <c:v>2005</c:v>
                  </c:pt>
                  <c:pt idx="5">
                    <c:v>2006</c:v>
                  </c:pt>
                  <c:pt idx="6">
                    <c:v>2007</c:v>
                  </c:pt>
                  <c:pt idx="7">
                    <c:v>2008</c:v>
                  </c:pt>
                  <c:pt idx="8">
                    <c:v>2009</c:v>
                  </c:pt>
                  <c:pt idx="9">
                    <c:v>2010</c:v>
                  </c:pt>
                  <c:pt idx="10">
                    <c:v>2011</c:v>
                  </c:pt>
                  <c:pt idx="11">
                    <c:v>2012</c:v>
                  </c:pt>
                  <c:pt idx="12">
                    <c:v>2013</c:v>
                  </c:pt>
                  <c:pt idx="13">
                    <c:v>2014</c:v>
                  </c:pt>
                  <c:pt idx="14">
                    <c:v>2015</c:v>
                  </c:pt>
                  <c:pt idx="15">
                    <c:v>2016</c:v>
                  </c:pt>
                  <c:pt idx="16">
                    <c:v>2017</c:v>
                  </c:pt>
                  <c:pt idx="17">
                    <c:v>2018</c:v>
                  </c:pt>
                  <c:pt idx="18">
                    <c:v>2019</c:v>
                  </c:pt>
                  <c:pt idx="19">
                    <c:v>2020</c:v>
                  </c:pt>
                  <c:pt idx="20">
                    <c:v>2021</c:v>
                  </c:pt>
                  <c:pt idx="21">
                    <c:v>2022</c:v>
                  </c:pt>
                  <c:pt idx="22">
                    <c:v>2023</c:v>
                  </c:pt>
                  <c:pt idx="23">
                    <c:v>2024</c:v>
                  </c:pt>
                </c:lvl>
              </c:multiLvlStrCache>
            </c:multiLvlStrRef>
          </c:cat>
          <c:val>
            <c:numRef>
              <c:f>Sheet1!$B$2:$B$25</c:f>
              <c:numCache>
                <c:formatCode>General</c:formatCode>
                <c:ptCount val="24"/>
                <c:pt idx="0">
                  <c:v>3241</c:v>
                </c:pt>
                <c:pt idx="1">
                  <c:v>4120</c:v>
                </c:pt>
                <c:pt idx="2">
                  <c:v>5280</c:v>
                </c:pt>
                <c:pt idx="3">
                  <c:v>6820</c:v>
                </c:pt>
                <c:pt idx="4">
                  <c:v>8340</c:v>
                </c:pt>
                <c:pt idx="5">
                  <c:v>10120</c:v>
                </c:pt>
                <c:pt idx="6">
                  <c:v>12450</c:v>
                </c:pt>
                <c:pt idx="7">
                  <c:v>15230</c:v>
                </c:pt>
                <c:pt idx="8">
                  <c:v>16890</c:v>
                </c:pt>
                <c:pt idx="9">
                  <c:v>18930</c:v>
                </c:pt>
                <c:pt idx="10">
                  <c:v>21340</c:v>
                </c:pt>
                <c:pt idx="11">
                  <c:v>23810</c:v>
                </c:pt>
                <c:pt idx="12">
                  <c:v>28410</c:v>
                </c:pt>
                <c:pt idx="13">
                  <c:v>31290</c:v>
                </c:pt>
                <c:pt idx="14">
                  <c:v>33840</c:v>
                </c:pt>
                <c:pt idx="15">
                  <c:v>36290</c:v>
                </c:pt>
                <c:pt idx="16">
                  <c:v>40120</c:v>
                </c:pt>
                <c:pt idx="17">
                  <c:v>44380</c:v>
                </c:pt>
                <c:pt idx="18">
                  <c:v>48120</c:v>
                </c:pt>
                <c:pt idx="19">
                  <c:v>51340</c:v>
                </c:pt>
                <c:pt idx="20">
                  <c:v>56780</c:v>
                </c:pt>
                <c:pt idx="21">
                  <c:v>60340</c:v>
                </c:pt>
                <c:pt idx="22">
                  <c:v>65210</c:v>
                </c:pt>
                <c:pt idx="23">
                  <c:v>70128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Preschool</c:v>
                </c:pt>
              </c:strCache>
            </c:strRef>
          </c:tx>
          <c:spPr>
            <a:solidFill>
              <a:srgbClr val="EA580C"/>
            </a:solidFill>
            <a:ln w="31750" cap="flat">
              <a:solidFill>
                <a:srgbClr val="EA580C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EA580C"/>
              </a:solidFill>
              <a:ln w="9525" cap="flat">
                <a:solidFill>
                  <a:srgbClr val="EA580C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Sheet1!$A$2:$A$25</c:f>
              <c:multiLvlStrCache>
                <c:ptCount val="24"/>
                <c:lvl>
                  <c:pt idx="0">
                    <c:v>2001</c:v>
                  </c:pt>
                  <c:pt idx="1">
                    <c:v>2002</c:v>
                  </c:pt>
                  <c:pt idx="2">
                    <c:v>2003</c:v>
                  </c:pt>
                  <c:pt idx="3">
                    <c:v>2004</c:v>
                  </c:pt>
                  <c:pt idx="4">
                    <c:v>2005</c:v>
                  </c:pt>
                  <c:pt idx="5">
                    <c:v>2006</c:v>
                  </c:pt>
                  <c:pt idx="6">
                    <c:v>2007</c:v>
                  </c:pt>
                  <c:pt idx="7">
                    <c:v>2008</c:v>
                  </c:pt>
                  <c:pt idx="8">
                    <c:v>2009</c:v>
                  </c:pt>
                  <c:pt idx="9">
                    <c:v>2010</c:v>
                  </c:pt>
                  <c:pt idx="10">
                    <c:v>2011</c:v>
                  </c:pt>
                  <c:pt idx="11">
                    <c:v>2012</c:v>
                  </c:pt>
                  <c:pt idx="12">
                    <c:v>2013</c:v>
                  </c:pt>
                  <c:pt idx="13">
                    <c:v>2014</c:v>
                  </c:pt>
                  <c:pt idx="14">
                    <c:v>2015</c:v>
                  </c:pt>
                  <c:pt idx="15">
                    <c:v>2016</c:v>
                  </c:pt>
                  <c:pt idx="16">
                    <c:v>2017</c:v>
                  </c:pt>
                  <c:pt idx="17">
                    <c:v>2018</c:v>
                  </c:pt>
                  <c:pt idx="18">
                    <c:v>2019</c:v>
                  </c:pt>
                  <c:pt idx="19">
                    <c:v>2020</c:v>
                  </c:pt>
                  <c:pt idx="20">
                    <c:v>2021</c:v>
                  </c:pt>
                  <c:pt idx="21">
                    <c:v>2022</c:v>
                  </c:pt>
                  <c:pt idx="22">
                    <c:v>2023</c:v>
                  </c:pt>
                  <c:pt idx="23">
                    <c:v>2024</c:v>
                  </c:pt>
                </c:lvl>
              </c:multiLvlStrCache>
            </c:multiLvlStrRef>
          </c:cat>
          <c:val>
            <c:numRef>
              <c:f>Sheet1!$C$2:$C$25</c:f>
              <c:numCache>
                <c:formatCode>General</c:formatCode>
                <c:ptCount val="24"/>
                <c:pt idx="0">
                  <c:v>189</c:v>
                </c:pt>
                <c:pt idx="1">
                  <c:v>241</c:v>
                </c:pt>
                <c:pt idx="2">
                  <c:v>312</c:v>
                </c:pt>
                <c:pt idx="3">
                  <c:v>410</c:v>
                </c:pt>
                <c:pt idx="4">
                  <c:v>530</c:v>
                </c:pt>
                <c:pt idx="5">
                  <c:v>680</c:v>
                </c:pt>
                <c:pt idx="6">
                  <c:v>890</c:v>
                </c:pt>
                <c:pt idx="7">
                  <c:v>1120</c:v>
                </c:pt>
                <c:pt idx="8">
                  <c:v>1340</c:v>
                </c:pt>
                <c:pt idx="9">
                  <c:v>1560</c:v>
                </c:pt>
                <c:pt idx="10">
                  <c:v>1820</c:v>
                </c:pt>
                <c:pt idx="11">
                  <c:v>2140</c:v>
                </c:pt>
                <c:pt idx="12">
                  <c:v>2540</c:v>
                </c:pt>
                <c:pt idx="13">
                  <c:v>2890</c:v>
                </c:pt>
                <c:pt idx="14">
                  <c:v>3210</c:v>
                </c:pt>
                <c:pt idx="15">
                  <c:v>3680</c:v>
                </c:pt>
                <c:pt idx="16">
                  <c:v>4120</c:v>
                </c:pt>
                <c:pt idx="17">
                  <c:v>4580</c:v>
                </c:pt>
                <c:pt idx="18">
                  <c:v>5010</c:v>
                </c:pt>
                <c:pt idx="19">
                  <c:v>5340</c:v>
                </c:pt>
                <c:pt idx="20">
                  <c:v>5890</c:v>
                </c:pt>
                <c:pt idx="21">
                  <c:v>6230</c:v>
                </c:pt>
                <c:pt idx="22">
                  <c:v>6780</c:v>
                </c:pt>
                <c:pt idx="23">
                  <c:v>7210</c:v>
                </c:pt>
              </c:numCache>
            </c:numRef>
          </c:val>
          <c:smooth val="1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Higher Education</c:v>
                </c:pt>
              </c:strCache>
            </c:strRef>
          </c:tx>
          <c:spPr>
            <a:solidFill>
              <a:srgbClr val="16A34A"/>
            </a:solidFill>
            <a:ln w="31750" cap="flat">
              <a:solidFill>
                <a:srgbClr val="16A34A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16A34A"/>
              </a:solidFill>
              <a:ln w="9525" cap="flat">
                <a:solidFill>
                  <a:srgbClr val="16A34A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Sheet1!$A$2:$A$25</c:f>
              <c:multiLvlStrCache>
                <c:ptCount val="24"/>
                <c:lvl>
                  <c:pt idx="0">
                    <c:v>2001</c:v>
                  </c:pt>
                  <c:pt idx="1">
                    <c:v>2002</c:v>
                  </c:pt>
                  <c:pt idx="2">
                    <c:v>2003</c:v>
                  </c:pt>
                  <c:pt idx="3">
                    <c:v>2004</c:v>
                  </c:pt>
                  <c:pt idx="4">
                    <c:v>2005</c:v>
                  </c:pt>
                  <c:pt idx="5">
                    <c:v>2006</c:v>
                  </c:pt>
                  <c:pt idx="6">
                    <c:v>2007</c:v>
                  </c:pt>
                  <c:pt idx="7">
                    <c:v>2008</c:v>
                  </c:pt>
                  <c:pt idx="8">
                    <c:v>2009</c:v>
                  </c:pt>
                  <c:pt idx="9">
                    <c:v>2010</c:v>
                  </c:pt>
                  <c:pt idx="10">
                    <c:v>2011</c:v>
                  </c:pt>
                  <c:pt idx="11">
                    <c:v>2012</c:v>
                  </c:pt>
                  <c:pt idx="12">
                    <c:v>2013</c:v>
                  </c:pt>
                  <c:pt idx="13">
                    <c:v>2014</c:v>
                  </c:pt>
                  <c:pt idx="14">
                    <c:v>2015</c:v>
                  </c:pt>
                  <c:pt idx="15">
                    <c:v>2016</c:v>
                  </c:pt>
                  <c:pt idx="16">
                    <c:v>2017</c:v>
                  </c:pt>
                  <c:pt idx="17">
                    <c:v>2018</c:v>
                  </c:pt>
                  <c:pt idx="18">
                    <c:v>2019</c:v>
                  </c:pt>
                  <c:pt idx="19">
                    <c:v>2020</c:v>
                  </c:pt>
                  <c:pt idx="20">
                    <c:v>2021</c:v>
                  </c:pt>
                  <c:pt idx="21">
                    <c:v>2022</c:v>
                  </c:pt>
                  <c:pt idx="22">
                    <c:v>2023</c:v>
                  </c:pt>
                  <c:pt idx="23">
                    <c:v>2024</c:v>
                  </c:pt>
                </c:lvl>
              </c:multiLvlStrCache>
            </c:multiLvlStrRef>
          </c:cat>
          <c:val>
            <c:numRef>
              <c:f>Sheet1!$D$2:$D$25</c:f>
              <c:numCache>
                <c:formatCode>General</c:formatCode>
                <c:ptCount val="24"/>
                <c:pt idx="0">
                  <c:v>284</c:v>
                </c:pt>
                <c:pt idx="1">
                  <c:v>382</c:v>
                </c:pt>
                <c:pt idx="2">
                  <c:v>490</c:v>
                </c:pt>
                <c:pt idx="3">
                  <c:v>680</c:v>
                </c:pt>
                <c:pt idx="4">
                  <c:v>840</c:v>
                </c:pt>
                <c:pt idx="5">
                  <c:v>1020</c:v>
                </c:pt>
                <c:pt idx="6">
                  <c:v>1380</c:v>
                </c:pt>
                <c:pt idx="7">
                  <c:v>1820</c:v>
                </c:pt>
                <c:pt idx="8">
                  <c:v>2180</c:v>
                </c:pt>
                <c:pt idx="9">
                  <c:v>2560</c:v>
                </c:pt>
                <c:pt idx="10">
                  <c:v>3010</c:v>
                </c:pt>
                <c:pt idx="11">
                  <c:v>3480</c:v>
                </c:pt>
                <c:pt idx="12">
                  <c:v>4120</c:v>
                </c:pt>
                <c:pt idx="13">
                  <c:v>4680</c:v>
                </c:pt>
                <c:pt idx="14">
                  <c:v>5210</c:v>
                </c:pt>
                <c:pt idx="15">
                  <c:v>5840</c:v>
                </c:pt>
                <c:pt idx="16">
                  <c:v>6580</c:v>
                </c:pt>
                <c:pt idx="17">
                  <c:v>7230</c:v>
                </c:pt>
                <c:pt idx="18">
                  <c:v>7980</c:v>
                </c:pt>
                <c:pt idx="19">
                  <c:v>8340</c:v>
                </c:pt>
                <c:pt idx="20">
                  <c:v>9120</c:v>
                </c:pt>
                <c:pt idx="21">
                  <c:v>9840</c:v>
                </c:pt>
                <c:pt idx="22">
                  <c:v>10540</c:v>
                </c:pt>
                <c:pt idx="23">
                  <c:v>11280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Observed</c:v>
                </c:pt>
              </c:strCache>
            </c:strRef>
          </c:tx>
          <c:spPr>
            <a:solidFill>
              <a:srgbClr val="EA580C"/>
            </a:solidFill>
            <a:ln w="25400" cap="flat">
              <a:solidFill>
                <a:srgbClr val="EA580C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EA580C"/>
              </a:solidFill>
              <a:ln w="9525" cap="flat">
                <a:solidFill>
                  <a:srgbClr val="EA580C"/>
                </a:solidFill>
                <a:prstDash val="solid"/>
                <a:round/>
              </a:ln>
              <a:effectLst/>
            </c:spPr>
          </c:marker>
          <c:xVal>
            <c:numRef>
              <c:f>Sheet1!$A$2:$A$16</c:f>
              <c:numCache>
                <c:formatCode>General</c:formatCode>
                <c:ptCount val="15"/>
                <c:pt idx="0">
                  <c:v>18930</c:v>
                </c:pt>
                <c:pt idx="1">
                  <c:v>21340</c:v>
                </c:pt>
                <c:pt idx="2">
                  <c:v>23810</c:v>
                </c:pt>
                <c:pt idx="3">
                  <c:v>28410</c:v>
                </c:pt>
                <c:pt idx="4">
                  <c:v>31290</c:v>
                </c:pt>
                <c:pt idx="5">
                  <c:v>33840</c:v>
                </c:pt>
                <c:pt idx="6">
                  <c:v>36290</c:v>
                </c:pt>
                <c:pt idx="7">
                  <c:v>40120</c:v>
                </c:pt>
                <c:pt idx="8">
                  <c:v>44380</c:v>
                </c:pt>
                <c:pt idx="9">
                  <c:v>48120</c:v>
                </c:pt>
                <c:pt idx="10">
                  <c:v>51340</c:v>
                </c:pt>
                <c:pt idx="11">
                  <c:v>56780</c:v>
                </c:pt>
                <c:pt idx="12">
                  <c:v>60340</c:v>
                </c:pt>
                <c:pt idx="13">
                  <c:v>65210</c:v>
                </c:pt>
                <c:pt idx="14">
                  <c:v>70128</c:v>
                </c:pt>
              </c:numCache>
            </c:numRef>
          </c:xVal>
          <c:yVal>
            <c:numRef>
              <c:f>Sheet1!$B$2:$B$16</c:f>
              <c:numCache>
                <c:formatCode>General</c:formatCode>
                <c:ptCount val="15"/>
                <c:pt idx="0">
                  <c:v>57228</c:v>
                </c:pt>
                <c:pt idx="1">
                  <c:v>58941</c:v>
                </c:pt>
                <c:pt idx="2">
                  <c:v>61243</c:v>
                </c:pt>
                <c:pt idx="3">
                  <c:v>64891</c:v>
                </c:pt>
                <c:pt idx="4">
                  <c:v>68234</c:v>
                </c:pt>
                <c:pt idx="5">
                  <c:v>70128</c:v>
                </c:pt>
                <c:pt idx="6">
                  <c:v>73921</c:v>
                </c:pt>
                <c:pt idx="7">
                  <c:v>75841</c:v>
                </c:pt>
                <c:pt idx="8">
                  <c:v>79123</c:v>
                </c:pt>
                <c:pt idx="9">
                  <c:v>83241</c:v>
                </c:pt>
                <c:pt idx="10">
                  <c:v>74921</c:v>
                </c:pt>
                <c:pt idx="11">
                  <c:v>103826</c:v>
                </c:pt>
                <c:pt idx="12">
                  <c:v>89241</c:v>
                </c:pt>
                <c:pt idx="13">
                  <c:v>91234</c:v>
                </c:pt>
                <c:pt idx="14">
                  <c:v>95394</c:v>
                </c:pt>
              </c:numCache>
            </c:numRef>
          </c:y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Trend</c:v>
                </c:pt>
              </c:strCache>
            </c:strRef>
          </c:tx>
          <c:spPr>
            <a:solidFill>
              <a:srgbClr val="EA580C"/>
            </a:solidFill>
            <a:ln w="25400" cap="flat">
              <a:solidFill>
                <a:srgbClr val="EA580C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EA580C"/>
              </a:solidFill>
              <a:ln w="9525" cap="flat">
                <a:solidFill>
                  <a:srgbClr val="EA580C"/>
                </a:solidFill>
                <a:prstDash val="solid"/>
                <a:round/>
              </a:ln>
              <a:effectLst/>
            </c:spPr>
          </c:marker>
          <c:xVal>
            <c:numRef>
              <c:f>Sheet1!$A$2:$A$16</c:f>
              <c:numCache>
                <c:formatCode>General</c:formatCode>
                <c:ptCount val="15"/>
                <c:pt idx="0">
                  <c:v>18930</c:v>
                </c:pt>
                <c:pt idx="1">
                  <c:v>21340</c:v>
                </c:pt>
                <c:pt idx="2">
                  <c:v>23810</c:v>
                </c:pt>
                <c:pt idx="3">
                  <c:v>28410</c:v>
                </c:pt>
                <c:pt idx="4">
                  <c:v>31290</c:v>
                </c:pt>
                <c:pt idx="5">
                  <c:v>33840</c:v>
                </c:pt>
                <c:pt idx="6">
                  <c:v>36290</c:v>
                </c:pt>
                <c:pt idx="7">
                  <c:v>40120</c:v>
                </c:pt>
                <c:pt idx="8">
                  <c:v>44380</c:v>
                </c:pt>
                <c:pt idx="9">
                  <c:v>48120</c:v>
                </c:pt>
                <c:pt idx="10">
                  <c:v>51340</c:v>
                </c:pt>
                <c:pt idx="11">
                  <c:v>56780</c:v>
                </c:pt>
                <c:pt idx="12">
                  <c:v>60340</c:v>
                </c:pt>
                <c:pt idx="13">
                  <c:v>65210</c:v>
                </c:pt>
                <c:pt idx="14">
                  <c:v>70128</c:v>
                </c:pt>
              </c:numCache>
            </c:numRef>
          </c:xVal>
          <c:yVal>
            <c:numRef>
              <c:f>Sheet1!$C$2:$C$16</c:f>
              <c:numCache>
                <c:formatCode>General</c:formatCode>
                <c:ptCount val="15"/>
                <c:pt idx="0">
                  <c:v>26912</c:v>
                </c:pt>
                <c:pt idx="1">
                  <c:v>26922</c:v>
                </c:pt>
                <c:pt idx="2">
                  <c:v>26932</c:v>
                </c:pt>
                <c:pt idx="3">
                  <c:v>26951</c:v>
                </c:pt>
                <c:pt idx="4">
                  <c:v>26963</c:v>
                </c:pt>
                <c:pt idx="5">
                  <c:v>26973</c:v>
                </c:pt>
                <c:pt idx="6">
                  <c:v>26984</c:v>
                </c:pt>
                <c:pt idx="7">
                  <c:v>26999</c:v>
                </c:pt>
                <c:pt idx="8">
                  <c:v>27017</c:v>
                </c:pt>
                <c:pt idx="9">
                  <c:v>27032</c:v>
                </c:pt>
                <c:pt idx="10">
                  <c:v>27046</c:v>
                </c:pt>
                <c:pt idx="11">
                  <c:v>27068</c:v>
                </c:pt>
                <c:pt idx="12">
                  <c:v>27083</c:v>
                </c:pt>
                <c:pt idx="13">
                  <c:v>27103</c:v>
                </c:pt>
                <c:pt idx="14">
                  <c:v>27123</c:v>
                </c:pt>
              </c:numCache>
            </c:numRef>
          </c:yVal>
          <c:smooth val="0"/>
        </c:ser>
        <c:dLbls>
          <c:numFmt formatCode="General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</c:dLbls>
        <c:axId val="2094734554"/>
        <c:axId val="2094734552"/>
      </c:scatterChart>
      <c:valAx>
        <c:axId val="2094734554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1"/>
        <c:majorTickMark val="none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val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none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midCat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CIS Annual Growth %</c:v>
                </c:pt>
              </c:strCache>
            </c:strRef>
          </c:tx>
          <c:spPr>
            <a:solidFill>
              <a:srgbClr val="2563EB"/>
            </a:solidFill>
            <a:ln w="31750" cap="flat">
              <a:solidFill>
                <a:srgbClr val="2563EB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2563EB"/>
              </a:solidFill>
              <a:ln w="9525" cap="flat">
                <a:solidFill>
                  <a:srgbClr val="2563E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Sheet1!$A$2:$A$15</c:f>
              <c:multiLvlStrCache>
                <c:ptCount val="14"/>
                <c:lvl>
                  <c:pt idx="0">
                    <c:v>2011</c:v>
                  </c:pt>
                  <c:pt idx="1">
                    <c:v>2012</c:v>
                  </c:pt>
                  <c:pt idx="2">
                    <c:v>2013</c:v>
                  </c:pt>
                  <c:pt idx="3">
                    <c:v>2014</c:v>
                  </c:pt>
                  <c:pt idx="4">
                    <c:v>2015</c:v>
                  </c:pt>
                  <c:pt idx="5">
                    <c:v>2016</c:v>
                  </c:pt>
                  <c:pt idx="6">
                    <c:v>2017</c:v>
                  </c:pt>
                  <c:pt idx="7">
                    <c:v>2018</c:v>
                  </c:pt>
                  <c:pt idx="8">
                    <c:v>2019</c:v>
                  </c:pt>
                  <c:pt idx="9">
                    <c:v>2020</c:v>
                  </c:pt>
                  <c:pt idx="10">
                    <c:v>2021</c:v>
                  </c:pt>
                  <c:pt idx="11">
                    <c:v>2022</c:v>
                  </c:pt>
                  <c:pt idx="12">
                    <c:v>2023</c:v>
                  </c:pt>
                  <c:pt idx="13">
                    <c:v>2024</c:v>
                  </c:pt>
                </c:lvl>
              </c:multiLvlStrCache>
            </c:multiLvlStrRef>
          </c:cat>
          <c:val>
            <c:numRef>
              <c:f>Sheet1!$B$2:$B$15</c:f>
              <c:numCache>
                <c:formatCode>General</c:formatCode>
                <c:ptCount val="14"/>
                <c:pt idx="0">
                  <c:v>5.1</c:v>
                </c:pt>
                <c:pt idx="1">
                  <c:v>4.8</c:v>
                </c:pt>
                <c:pt idx="2">
                  <c:v>6.2</c:v>
                </c:pt>
                <c:pt idx="3">
                  <c:v>3.9</c:v>
                </c:pt>
                <c:pt idx="4">
                  <c:v>2.1</c:v>
                </c:pt>
                <c:pt idx="5">
                  <c:v>-1.2</c:v>
                </c:pt>
                <c:pt idx="6">
                  <c:v>2.8</c:v>
                </c:pt>
                <c:pt idx="7">
                  <c:v>3.5</c:v>
                </c:pt>
                <c:pt idx="8">
                  <c:v>4.1</c:v>
                </c:pt>
                <c:pt idx="9">
                  <c:v>-8.3</c:v>
                </c:pt>
                <c:pt idx="10">
                  <c:v>9.7</c:v>
                </c:pt>
                <c:pt idx="11">
                  <c:v>3.2</c:v>
                </c:pt>
                <c:pt idx="12">
                  <c:v>5.7</c:v>
                </c:pt>
                <c:pt idx="13">
                  <c:v>4.5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Non-CIS Annual Growth %</c:v>
                </c:pt>
              </c:strCache>
            </c:strRef>
          </c:tx>
          <c:spPr>
            <a:solidFill>
              <a:srgbClr val="EA580C"/>
            </a:solidFill>
            <a:ln w="31750" cap="flat">
              <a:solidFill>
                <a:srgbClr val="EA580C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EA580C"/>
              </a:solidFill>
              <a:ln w="9525" cap="flat">
                <a:solidFill>
                  <a:srgbClr val="EA580C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Sheet1!$A$2:$A$15</c:f>
              <c:multiLvlStrCache>
                <c:ptCount val="14"/>
                <c:lvl>
                  <c:pt idx="0">
                    <c:v>2011</c:v>
                  </c:pt>
                  <c:pt idx="1">
                    <c:v>2012</c:v>
                  </c:pt>
                  <c:pt idx="2">
                    <c:v>2013</c:v>
                  </c:pt>
                  <c:pt idx="3">
                    <c:v>2014</c:v>
                  </c:pt>
                  <c:pt idx="4">
                    <c:v>2015</c:v>
                  </c:pt>
                  <c:pt idx="5">
                    <c:v>2016</c:v>
                  </c:pt>
                  <c:pt idx="6">
                    <c:v>2017</c:v>
                  </c:pt>
                  <c:pt idx="7">
                    <c:v>2018</c:v>
                  </c:pt>
                  <c:pt idx="8">
                    <c:v>2019</c:v>
                  </c:pt>
                  <c:pt idx="9">
                    <c:v>2020</c:v>
                  </c:pt>
                  <c:pt idx="10">
                    <c:v>2021</c:v>
                  </c:pt>
                  <c:pt idx="11">
                    <c:v>2022</c:v>
                  </c:pt>
                  <c:pt idx="12">
                    <c:v>2023</c:v>
                  </c:pt>
                  <c:pt idx="13">
                    <c:v>2024</c:v>
                  </c:pt>
                </c:lvl>
              </c:multiLvlStrCache>
            </c:multiLvlStrRef>
          </c:cat>
          <c:val>
            <c:numRef>
              <c:f>Sheet1!$C$2:$C$15</c:f>
              <c:numCache>
                <c:formatCode>General</c:formatCode>
                <c:ptCount val="14"/>
                <c:pt idx="0">
                  <c:v>8.7</c:v>
                </c:pt>
                <c:pt idx="1">
                  <c:v>22.1</c:v>
                </c:pt>
                <c:pt idx="2">
                  <c:v>31.5</c:v>
                </c:pt>
                <c:pt idx="3">
                  <c:v>19.8</c:v>
                </c:pt>
                <c:pt idx="4">
                  <c:v>15.3</c:v>
                </c:pt>
                <c:pt idx="5">
                  <c:v>12.4</c:v>
                </c:pt>
                <c:pt idx="6">
                  <c:v>18.6</c:v>
                </c:pt>
                <c:pt idx="7">
                  <c:v>21.3</c:v>
                </c:pt>
                <c:pt idx="8">
                  <c:v>24.7</c:v>
                </c:pt>
                <c:pt idx="9">
                  <c:v>-15.2</c:v>
                </c:pt>
                <c:pt idx="10">
                  <c:v>18.4</c:v>
                </c:pt>
                <c:pt idx="11">
                  <c:v>14.6</c:v>
                </c:pt>
                <c:pt idx="12">
                  <c:v>-3.5</c:v>
                </c:pt>
                <c:pt idx="13">
                  <c:v>3.9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Historical Total</c:v>
                </c:pt>
              </c:strCache>
            </c:strRef>
          </c:tx>
          <c:spPr>
            <a:solidFill>
              <a:srgbClr val="94A3B8"/>
            </a:solidFill>
            <a:ln w="31750" cap="flat">
              <a:solidFill>
                <a:srgbClr val="94A3B8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94A3B8"/>
              </a:solidFill>
              <a:ln w="9525" cap="flat">
                <a:solidFill>
                  <a:srgbClr val="94A3B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Sheet1!$A$2:$A$9</c:f>
              <c:multiLvlStrCache>
                <c:ptCount val="8"/>
                <c:lvl>
                  <c:pt idx="0">
                    <c:v>2010</c:v>
                  </c:pt>
                  <c:pt idx="1">
                    <c:v>2012</c:v>
                  </c:pt>
                  <c:pt idx="2">
                    <c:v>2014</c:v>
                  </c:pt>
                  <c:pt idx="3">
                    <c:v>2016</c:v>
                  </c:pt>
                  <c:pt idx="4">
                    <c:v>2018</c:v>
                  </c:pt>
                  <c:pt idx="5">
                    <c:v>2020</c:v>
                  </c:pt>
                  <c:pt idx="6">
                    <c:v>2022</c:v>
                  </c:pt>
                  <c:pt idx="7">
                    <c:v>2024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57228</c:v>
                </c:pt>
                <c:pt idx="1">
                  <c:v>61243</c:v>
                </c:pt>
                <c:pt idx="2">
                  <c:v>68234</c:v>
                </c:pt>
                <c:pt idx="3">
                  <c:v>73921</c:v>
                </c:pt>
                <c:pt idx="4">
                  <c:v>79123</c:v>
                </c:pt>
                <c:pt idx="5">
                  <c:v>74921</c:v>
                </c:pt>
                <c:pt idx="6">
                  <c:v>89241</c:v>
                </c:pt>
                <c:pt idx="7">
                  <c:v>95394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Linear Forecast</c:v>
                </c:pt>
              </c:strCache>
            </c:strRef>
          </c:tx>
          <c:spPr>
            <a:solidFill>
              <a:srgbClr val="2563EB"/>
            </a:solidFill>
            <a:ln w="31750" cap="flat">
              <a:solidFill>
                <a:srgbClr val="2563EB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2563EB"/>
              </a:solidFill>
              <a:ln w="9525" cap="flat">
                <a:solidFill>
                  <a:srgbClr val="2563E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2025</c:v>
                  </c:pt>
                  <c:pt idx="1">
                    <c:v>2026</c:v>
                  </c:pt>
                  <c:pt idx="2">
                    <c:v>2027</c:v>
                  </c:pt>
                  <c:pt idx="3">
                    <c:v>2028</c:v>
                  </c:pt>
                  <c:pt idx="4">
                    <c:v>2029</c:v>
                  </c:pt>
                  <c:pt idx="5">
                    <c:v>2030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98120</c:v>
                </c:pt>
                <c:pt idx="1">
                  <c:v>101340</c:v>
                </c:pt>
                <c:pt idx="2">
                  <c:v>104560</c:v>
                </c:pt>
                <c:pt idx="3">
                  <c:v>107780</c:v>
                </c:pt>
                <c:pt idx="4">
                  <c:v>111000</c:v>
                </c:pt>
                <c:pt idx="5">
                  <c:v>114220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ARIMA Forecast</c:v>
                </c:pt>
              </c:strCache>
            </c:strRef>
          </c:tx>
          <c:spPr>
            <a:solidFill>
              <a:srgbClr val="EA580C"/>
            </a:solidFill>
            <a:ln w="31750" cap="flat">
              <a:solidFill>
                <a:srgbClr val="EA580C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EA580C"/>
              </a:solidFill>
              <a:ln w="9525" cap="flat">
                <a:solidFill>
                  <a:srgbClr val="EA580C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2025</c:v>
                  </c:pt>
                  <c:pt idx="1">
                    <c:v>2026</c:v>
                  </c:pt>
                  <c:pt idx="2">
                    <c:v>2027</c:v>
                  </c:pt>
                  <c:pt idx="3">
                    <c:v>2028</c:v>
                  </c:pt>
                  <c:pt idx="4">
                    <c:v>2029</c:v>
                  </c:pt>
                  <c:pt idx="5">
                    <c:v>2030</c:v>
                  </c:pt>
                </c:lvl>
              </c:multiLvlStrCache>
            </c:multiLvl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97340</c:v>
                </c:pt>
                <c:pt idx="1">
                  <c:v>99120</c:v>
                </c:pt>
                <c:pt idx="2">
                  <c:v>100890</c:v>
                </c:pt>
                <c:pt idx="3">
                  <c:v>102670</c:v>
                </c:pt>
                <c:pt idx="4">
                  <c:v>104450</c:v>
                </c:pt>
                <c:pt idx="5">
                  <c:v>106230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33415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solidFill>
      <a:srgbClr val="1E293B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chart" Target="/ppt/charts/chart3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.xml"/><Relationship Id="rId2" Type="http://schemas.openxmlformats.org/officeDocument/2006/relationships/chart" Target="/ppt/charts/chart7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8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9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0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1828800"/>
            <a:ext cx="6400800" cy="6400800"/>
          </a:xfrm>
          <a:prstGeom prst="ellipse">
            <a:avLst/>
          </a:prstGeom>
          <a:solidFill>
            <a:srgbClr val="0891B2">
              <a:alpha val="1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828800" y="2286000"/>
            <a:ext cx="4572000" cy="4572000"/>
          </a:xfrm>
          <a:prstGeom prst="ellipse">
            <a:avLst/>
          </a:prstGeom>
          <a:solidFill>
            <a:srgbClr val="7C3AED">
              <a:alpha val="13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9144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600" kern="0" dirty="0">
                <a:solidFill>
                  <a:srgbClr val="F59E0B"/>
                </a:solidFill>
              </a:rPr>
              <a:t>KYRGYZSTAN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1371600"/>
            <a:ext cx="7315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</a:rPr>
              <a:t>Education Visualizations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548640" y="251460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94A3B8"/>
                </a:solidFill>
              </a:rPr>
              <a:t>10 Publication-Quality Charts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548640" y="3154680"/>
            <a:ext cx="1828800" cy="36576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333756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Literacy · Student Enrollment · Budget · Regression · Country Breakdown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3840480"/>
            <a:ext cx="1508760" cy="347472"/>
          </a:xfrm>
          <a:prstGeom prst="roundRect">
            <a:avLst>
              <a:gd name="adj" fmla="val 13158"/>
            </a:avLst>
          </a:prstGeom>
          <a:solidFill>
            <a:srgbClr val="1E3A5F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3840480"/>
            <a:ext cx="1508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891B2"/>
                </a:solidFill>
              </a:rPr>
              <a:t>Bar Charts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212848" y="3840480"/>
            <a:ext cx="1508760" cy="347472"/>
          </a:xfrm>
          <a:prstGeom prst="roundRect">
            <a:avLst>
              <a:gd name="adj" fmla="val 13158"/>
            </a:avLst>
          </a:prstGeom>
          <a:solidFill>
            <a:srgbClr val="1E3A5F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212848" y="3840480"/>
            <a:ext cx="1508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891B2"/>
                </a:solidFill>
              </a:rPr>
              <a:t>Line Charts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877056" y="3840480"/>
            <a:ext cx="1508760" cy="347472"/>
          </a:xfrm>
          <a:prstGeom prst="roundRect">
            <a:avLst>
              <a:gd name="adj" fmla="val 13158"/>
            </a:avLst>
          </a:prstGeom>
          <a:solidFill>
            <a:srgbClr val="1E3A5F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877056" y="3840480"/>
            <a:ext cx="1508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891B2"/>
                </a:solidFill>
              </a:rPr>
              <a:t>Area Charts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5541264" y="3840480"/>
            <a:ext cx="1508760" cy="347472"/>
          </a:xfrm>
          <a:prstGeom prst="roundRect">
            <a:avLst>
              <a:gd name="adj" fmla="val 13158"/>
            </a:avLst>
          </a:prstGeom>
          <a:solidFill>
            <a:srgbClr val="1E3A5F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541264" y="3840480"/>
            <a:ext cx="1508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891B2"/>
                </a:solidFill>
              </a:rPr>
              <a:t>Heatmaps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7205472" y="3840480"/>
            <a:ext cx="1508760" cy="347472"/>
          </a:xfrm>
          <a:prstGeom prst="roundRect">
            <a:avLst>
              <a:gd name="adj" fmla="val 13158"/>
            </a:avLst>
          </a:prstGeom>
          <a:solidFill>
            <a:srgbClr val="1E3A5F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205472" y="3840480"/>
            <a:ext cx="1508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891B2"/>
                </a:solidFill>
              </a:rPr>
              <a:t>Scatter Plots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Fig 1 · Education Attainment by Level — Census 1989–2022</a:t>
            </a:r>
            <a:endParaRPr lang="en-US" sz="18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274320" y="868680"/>
          <a:ext cx="8595360" cy="3977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365760" y="489204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</a:rPr>
              <a:t>Source: Kyrgyzstan Census Data 1989, 1999, 2009, 2022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0972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3A5F"/>
                </a:solidFill>
              </a:rPr>
              <a:t>Fig 2 · Higher Education Growth vs Illiteracy Decline</a:t>
            </a:r>
            <a:endParaRPr lang="en-US" sz="22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274320" y="777240"/>
          <a:ext cx="4206240" cy="3383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4" name="Chart 1" descr=""/>
          <p:cNvGraphicFramePr/>
          <p:nvPr/>
        </p:nvGraphicFramePr>
        <p:xfrm>
          <a:off x="4663440" y="777240"/>
          <a:ext cx="4206240" cy="3383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Shape 1"/>
          <p:cNvSpPr/>
          <p:nvPr/>
        </p:nvSpPr>
        <p:spPr>
          <a:xfrm>
            <a:off x="274320" y="4315968"/>
            <a:ext cx="8595360" cy="594360"/>
          </a:xfrm>
          <a:prstGeom prst="rect">
            <a:avLst/>
          </a:prstGeom>
          <a:solidFill>
            <a:srgbClr val="DBEAFE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6" name="Text 2"/>
          <p:cNvSpPr/>
          <p:nvPr/>
        </p:nvSpPr>
        <p:spPr>
          <a:xfrm>
            <a:off x="365760" y="4370832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563EB"/>
                </a:solidFill>
              </a:rPr>
              <a:t>▲ Higher education: +235%  (374K → 1.26M)        ▼ Illiteracy: -87%  (38K → 4.9K)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Fig 3 · International Students — Stacked Enrollment 2010–2024</a:t>
            </a:r>
            <a:endParaRPr lang="en-US" sz="17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274320" y="868680"/>
          <a:ext cx="8595360" cy="3749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6858000" y="914400"/>
            <a:ext cx="1920240" cy="685800"/>
          </a:xfrm>
          <a:prstGeom prst="roundRect">
            <a:avLst>
              <a:gd name="adj" fmla="val 10667"/>
            </a:avLst>
          </a:prstGeom>
          <a:solidFill>
            <a:srgbClr val="FEF3C7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858000" y="914400"/>
            <a:ext cx="1920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9E0B"/>
                </a:solidFill>
              </a:rPr>
              <a:t>Peak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59E0B"/>
                </a:solidFill>
              </a:rPr>
              <a:t>103,826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59E0B"/>
                </a:solidFill>
              </a:rPr>
              <a:t>(2021)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0972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3A5F"/>
                </a:solidFill>
              </a:rPr>
              <a:t>Fig 4 · Top 10 Countries by Total Enrollment (2010–2024)</a:t>
            </a:r>
            <a:endParaRPr lang="en-US" sz="21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274320" y="777240"/>
          <a:ext cx="8595360" cy="4114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Fig 5 · CIS vs Non-CIS Share of Total Enrollment (%)</a:t>
            </a:r>
            <a:endParaRPr lang="en-US" sz="18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274320" y="868680"/>
          <a:ext cx="4114800" cy="3474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5" name="Chart 1" descr=""/>
          <p:cNvGraphicFramePr/>
          <p:nvPr/>
        </p:nvGraphicFramePr>
        <p:xfrm>
          <a:off x="4663440" y="868680"/>
          <a:ext cx="4114800" cy="3474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 2"/>
          <p:cNvSpPr/>
          <p:nvPr/>
        </p:nvSpPr>
        <p:spPr>
          <a:xfrm>
            <a:off x="365760" y="448056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C3AED"/>
                </a:solidFill>
              </a:rPr>
              <a:t>Non-CIS share grew from 7.8% → 23.2% over 14 years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0972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3A5F"/>
                </a:solidFill>
              </a:rPr>
              <a:t>Fig 6 · Education Budget 2001–2024 (mln som)</a:t>
            </a:r>
            <a:endParaRPr lang="en-US" sz="22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274320" y="749808"/>
          <a:ext cx="8595360" cy="3794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Shape 1"/>
          <p:cNvSpPr/>
          <p:nvPr/>
        </p:nvSpPr>
        <p:spPr>
          <a:xfrm>
            <a:off x="457200" y="914400"/>
            <a:ext cx="2011680" cy="548640"/>
          </a:xfrm>
          <a:prstGeom prst="roundRect">
            <a:avLst>
              <a:gd name="adj" fmla="val 13333"/>
            </a:avLst>
          </a:prstGeom>
          <a:solidFill>
            <a:srgbClr val="DBEAFE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457200" y="91440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563EB"/>
                </a:solidFill>
              </a:rPr>
              <a:t>3,241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2563EB"/>
                </a:solidFill>
              </a:rPr>
              <a:t>mln som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2563EB"/>
                </a:solidFill>
              </a:rPr>
              <a:t>2001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6858000" y="914400"/>
            <a:ext cx="1920240" cy="548640"/>
          </a:xfrm>
          <a:prstGeom prst="roundRect">
            <a:avLst>
              <a:gd name="adj" fmla="val 13333"/>
            </a:avLst>
          </a:prstGeom>
          <a:solidFill>
            <a:srgbClr val="FEF3C7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858000" y="91440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59E0B"/>
                </a:solidFill>
              </a:rPr>
              <a:t>70,128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59E0B"/>
                </a:solidFill>
              </a:rPr>
              <a:t>mln som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59E0B"/>
                </a:solidFill>
              </a:rPr>
              <a:t>2024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Fig 7 · Regression: Total Students ~ Education Budget</a:t>
            </a:r>
            <a:endParaRPr lang="en-US" sz="18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274320" y="868680"/>
          <a:ext cx="6583680" cy="3931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040880" y="1005840"/>
            <a:ext cx="1828800" cy="658368"/>
          </a:xfrm>
          <a:prstGeom prst="rect">
            <a:avLst/>
          </a:prstGeom>
          <a:solidFill>
            <a:srgbClr val="FEF3C7"/>
          </a:solidFill>
          <a:ln/>
          <a:effectLst>
            <a:outerShdw sx="100000" sy="100000" kx="0" ky="0" algn="bl" rotWithShape="0" blurRad="50800" dist="12700" dir="8100000">
              <a:srgbClr val="000000">
                <a:alpha val="7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7086600" y="1042416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R²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7086600" y="1298448"/>
            <a:ext cx="1737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0.8914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7040880" y="1783080"/>
            <a:ext cx="1828800" cy="658368"/>
          </a:xfrm>
          <a:prstGeom prst="rect">
            <a:avLst/>
          </a:prstGeom>
          <a:solidFill>
            <a:srgbClr val="FEF3C7"/>
          </a:solidFill>
          <a:ln/>
          <a:effectLst>
            <a:outerShdw sx="100000" sy="100000" kx="0" ky="0" algn="bl" rotWithShape="0" blurRad="50800" dist="12700" dir="8100000">
              <a:srgbClr val="000000">
                <a:alpha val="7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7086600" y="1819656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Pearson r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7086600" y="2075688"/>
            <a:ext cx="1737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0.9441</a:t>
            </a:r>
            <a:endParaRPr lang="en-US" sz="1800" dirty="0"/>
          </a:p>
        </p:txBody>
      </p:sp>
      <p:sp>
        <p:nvSpPr>
          <p:cNvPr id="11" name="Shape 8"/>
          <p:cNvSpPr/>
          <p:nvPr/>
        </p:nvSpPr>
        <p:spPr>
          <a:xfrm>
            <a:off x="7040880" y="2560320"/>
            <a:ext cx="1828800" cy="658368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50800" dist="12700" dir="8100000">
              <a:srgbClr val="000000">
                <a:alpha val="7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7086600" y="2596896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p-value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7086600" y="2852928"/>
            <a:ext cx="1737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0.0001</a:t>
            </a:r>
            <a:endParaRPr lang="en-US" sz="1800" dirty="0"/>
          </a:p>
        </p:txBody>
      </p:sp>
      <p:sp>
        <p:nvSpPr>
          <p:cNvPr id="14" name="Shape 11"/>
          <p:cNvSpPr/>
          <p:nvPr/>
        </p:nvSpPr>
        <p:spPr>
          <a:xfrm>
            <a:off x="7040880" y="3337560"/>
            <a:ext cx="1828800" cy="658368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50800" dist="12700" dir="8100000">
              <a:srgbClr val="000000">
                <a:alpha val="7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7086600" y="3374136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n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7086600" y="3630168"/>
            <a:ext cx="1737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years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6949440" y="411480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</a:rPr>
              <a:t>Ŷ = 0.00412 × Budget + 26,834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0972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3A5F"/>
                </a:solidFill>
              </a:rPr>
              <a:t>Fig 8 · Annual Growth Rate Comparison: CIS vs Non-CIS</a:t>
            </a:r>
            <a:endParaRPr lang="en-US" sz="21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274320" y="749808"/>
          <a:ext cx="8595360" cy="3291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Shape 1"/>
          <p:cNvSpPr/>
          <p:nvPr/>
        </p:nvSpPr>
        <p:spPr>
          <a:xfrm>
            <a:off x="3840480" y="1005840"/>
            <a:ext cx="1463040" cy="457200"/>
          </a:xfrm>
          <a:prstGeom prst="roundRect">
            <a:avLst>
              <a:gd name="adj" fmla="val 12000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3840480" y="100584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C2626"/>
                </a:solidFill>
              </a:rPr>
              <a:t>COVID-19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DC2626"/>
                </a:solidFill>
              </a:rPr>
              <a:t>Dip 2020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274320" y="4206240"/>
            <a:ext cx="201168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12700" dir="8100000">
              <a:srgbClr val="000000">
                <a:alpha val="7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347472" y="4251960"/>
            <a:ext cx="1874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CIS mean growth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347472" y="4498848"/>
            <a:ext cx="1874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3.12%/yr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2432304" y="4206240"/>
            <a:ext cx="201168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12700" dir="8100000">
              <a:srgbClr val="000000">
                <a:alpha val="7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2505456" y="4251960"/>
            <a:ext cx="1874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Non-CIS mean growth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2505456" y="4498848"/>
            <a:ext cx="1874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17.84%/yr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4590288" y="4206240"/>
            <a:ext cx="201168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12700" dir="8100000">
              <a:srgbClr val="000000">
                <a:alpha val="7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4663440" y="4251960"/>
            <a:ext cx="1874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Welch t-test p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4663440" y="4498848"/>
            <a:ext cx="1874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0.0142</a:t>
            </a:r>
            <a:endParaRPr lang="en-US" sz="1500" dirty="0"/>
          </a:p>
        </p:txBody>
      </p:sp>
      <p:sp>
        <p:nvSpPr>
          <p:cNvPr id="15" name="Shape 12"/>
          <p:cNvSpPr/>
          <p:nvPr/>
        </p:nvSpPr>
        <p:spPr>
          <a:xfrm>
            <a:off x="6748272" y="4206240"/>
            <a:ext cx="201168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12700" dir="8100000">
              <a:srgbClr val="000000">
                <a:alpha val="7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6821424" y="4251960"/>
            <a:ext cx="1874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Cohen's d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6821424" y="4498848"/>
            <a:ext cx="1874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1.847 (large)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Fig 9 · Country Enrollment Heatmap (Selected Years)</a:t>
            </a:r>
            <a:endParaRPr lang="en-US" sz="18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28600" y="868680"/>
          <a:ext cx="8686800" cy="4069080"/>
        </p:xfrm>
        <a:graphic>
          <a:graphicData uri="http://schemas.openxmlformats.org/drawingml/2006/table">
            <a:tbl>
              <a:tblPr/>
              <a:tblGrid>
                <a:gridCol w="1828800"/>
                <a:gridCol w="1005840"/>
                <a:gridCol w="1005840"/>
                <a:gridCol w="1005840"/>
                <a:gridCol w="1005840"/>
                <a:gridCol w="1005840"/>
                <a:gridCol w="1005840"/>
                <a:gridCol w="822960"/>
              </a:tblGrid>
              <a:tr h="4521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Country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A3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2010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A3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2013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A3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2016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A3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2019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A3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A3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A3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Group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A34A"/>
                    </a:solidFill>
                  </a:tcPr>
                </a:tc>
              </a:tr>
              <a:tr h="4521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Kazakhstan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8,420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CAF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10,230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A3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11,840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97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14,210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587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16,780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D75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19,340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563E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AFE"/>
                    </a:solidFill>
                  </a:tcPr>
                </a:tc>
              </a:tr>
              <a:tr h="4521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Russia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7,340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6B7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8,910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7AC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9,230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A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10,120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CA3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11,230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19C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12,450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693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563E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AFE"/>
                    </a:solidFill>
                  </a:tcPr>
                </a:tc>
              </a:tr>
              <a:tr h="4521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Uzbekistan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6,120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1BF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7,840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1B3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8,930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7AC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10,840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59E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12,310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794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13,280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E8D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563E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AFE"/>
                    </a:solidFill>
                  </a:tcPr>
                </a:tc>
              </a:tr>
              <a:tr h="4521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Tajikistan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4,230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3CC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5,340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9C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6,120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1BF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7,230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7B8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8,340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DB0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9,120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5AA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563E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AFE"/>
                    </a:solidFill>
                  </a:tcPr>
                </a:tc>
              </a:tr>
              <a:tr h="4521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India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890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3E4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2,340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D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4,120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D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7,230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7B8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10,120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CA3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12,340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794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EA580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Non-CIS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DD5"/>
                    </a:solidFill>
                  </a:tcPr>
                </a:tc>
              </a:tr>
              <a:tr h="4521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Pakistan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620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E6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1,840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D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3,120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D4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5,840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4C1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8,230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EB1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9,840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EA5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EA580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Non-CIS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DD5"/>
                    </a:solidFill>
                  </a:tcPr>
                </a:tc>
              </a:tr>
              <a:tr h="4521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Bangladesh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340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E8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890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3E4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1,840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D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3,120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D4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5,340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9C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6,230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0BF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EA580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Non-CIS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DD5"/>
                    </a:solidFill>
                  </a:tcPr>
                </a:tc>
              </a:tr>
              <a:tr h="4521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Nepal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9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560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6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1,120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E2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2,340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D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3,840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CF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4,560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0CA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EA580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Non-CIS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DD5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274320" y="502920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</a:rPr>
              <a:t>Darker blue = higher enrollment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0" y="-1371600"/>
            <a:ext cx="5486400" cy="5486400"/>
          </a:xfrm>
          <a:prstGeom prst="ellipse">
            <a:avLst/>
          </a:prstGeom>
          <a:solidFill>
            <a:srgbClr val="0891B2">
              <a:alpha val="1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0972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Fig 10 · Enrollment Forecast 2025–2030</a:t>
            </a:r>
            <a:endParaRPr lang="en-US" sz="22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274320" y="749808"/>
          <a:ext cx="8595360" cy="3474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365760" y="434340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</a:rPr>
              <a:t>Based on Linear Regression, Polynomial Regression (deg. 2) &amp; ARIMA(1,1,0) models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1371600" y="4681728"/>
            <a:ext cx="2011680" cy="384048"/>
          </a:xfrm>
          <a:prstGeom prst="rect">
            <a:avLst/>
          </a:prstGeom>
          <a:solidFill>
            <a:srgbClr val="1E3A5F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371600" y="4681728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2025: Linear 98,120 | ARIMA 97,340</a:t>
            </a:r>
            <a:endParaRPr lang="en-US" sz="850" dirty="0"/>
          </a:p>
        </p:txBody>
      </p:sp>
      <p:sp>
        <p:nvSpPr>
          <p:cNvPr id="8" name="Shape 5"/>
          <p:cNvSpPr/>
          <p:nvPr/>
        </p:nvSpPr>
        <p:spPr>
          <a:xfrm>
            <a:off x="3657600" y="4681728"/>
            <a:ext cx="2011680" cy="384048"/>
          </a:xfrm>
          <a:prstGeom prst="rect">
            <a:avLst/>
          </a:prstGeom>
          <a:solidFill>
            <a:srgbClr val="1E3A5F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657600" y="4681728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2027: Linear 104,560 | ARIMA 100,890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5943600" y="4681728"/>
            <a:ext cx="2011680" cy="384048"/>
          </a:xfrm>
          <a:prstGeom prst="rect">
            <a:avLst/>
          </a:prstGeom>
          <a:solidFill>
            <a:srgbClr val="1E3A5F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943600" y="4681728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2030: Linear 114,220 | ARIMA 106,230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Kyrgyzstan Education - Visualizations</dc:title>
  <dc:subject>PptxGenJS Presentation</dc:subject>
  <dc:creator>PptxGenJS</dc:creator>
  <cp:lastModifiedBy>PptxGenJS</cp:lastModifiedBy>
  <cp:revision>1</cp:revision>
  <dcterms:created xsi:type="dcterms:W3CDTF">2026-04-28T09:10:47Z</dcterms:created>
  <dcterms:modified xsi:type="dcterms:W3CDTF">2026-04-28T09:10:47Z</dcterms:modified>
</cp:coreProperties>
</file>