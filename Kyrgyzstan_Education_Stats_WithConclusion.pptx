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3" r:id="rId4"/>
    <p:sldId id="258" r:id="rId5"/>
    <p:sldId id="259" r:id="rId6"/>
    <p:sldId id="266" r:id="rId7"/>
    <p:sldId id="274" r:id="rId8"/>
    <p:sldId id="260" r:id="rId9"/>
    <p:sldId id="261" r:id="rId10"/>
    <p:sldId id="267" r:id="rId11"/>
    <p:sldId id="262" r:id="rId12"/>
    <p:sldId id="271" r:id="rId13"/>
    <p:sldId id="263" r:id="rId14"/>
    <p:sldId id="264" r:id="rId15"/>
    <p:sldId id="268" r:id="rId16"/>
    <p:sldId id="269" r:id="rId17"/>
    <p:sldId id="265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77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1248"/>
          </a:xfrm>
          <a:prstGeom prst="rect">
            <a:avLst/>
          </a:prstGeom>
          <a:solidFill>
            <a:srgbClr val="0A1F3E"/>
          </a:solidFill>
          <a:ln w="12700">
            <a:solidFill>
              <a:srgbClr val="0A1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Statistics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Statistical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literacy.csv  ·  students_cis.csv  ·  students_non_cis.csv  ·  education_budget.csv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601A59-4311-A50E-76E8-37964ABF4592}"/>
              </a:ext>
            </a:extLst>
          </p:cNvPr>
          <p:cNvSpPr txBox="1"/>
          <p:nvPr/>
        </p:nvSpPr>
        <p:spPr>
          <a:xfrm>
            <a:off x="400050" y="812743"/>
            <a:ext cx="8220808" cy="369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nsolas" panose="020B0609020204030204" pitchFamily="49" charset="0"/>
              </a:rPr>
              <a:t> 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nsolas" panose="020B0609020204030204" pitchFamily="49" charset="0"/>
              </a:rPr>
              <a:t>This report analyzes four official statistical datasets published by the National Statistics Committee of the Kyrgyz Republic, covering the period from 1989 to 2025. The datasets capture: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nsolas" panose="020B0609020204030204" pitchFamily="49" charset="0"/>
              </a:rPr>
            </a:br>
            <a:endParaRPr lang="en-US" b="1" dirty="0"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425"/>
              </a:lnSpc>
              <a:buAutoNum type="arabicPeriod"/>
            </a:pP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**Literacy rates and education attainment** </a:t>
            </a:r>
            <a:r>
              <a:rPr lang="en-US" b="1" dirty="0">
                <a:effectLst/>
                <a:latin typeface="Consolas" panose="020B0609020204030204" pitchFamily="49" charset="0"/>
              </a:rPr>
              <a:t>across four census years (1989, 1999, 2009, 2022)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b="1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2. **Foreign student enrollment** </a:t>
            </a:r>
            <a:r>
              <a:rPr lang="en-US" b="1" dirty="0">
                <a:effectLst/>
                <a:latin typeface="Consolas" panose="020B0609020204030204" pitchFamily="49" charset="0"/>
              </a:rPr>
              <a:t>from CIS and non-CIS countries in Kyrgyz higher education institutions (2010–2024)</a:t>
            </a:r>
          </a:p>
          <a:p>
            <a:pPr>
              <a:lnSpc>
                <a:spcPts val="1425"/>
              </a:lnSpc>
              <a:buNone/>
            </a:pPr>
            <a:endParaRPr lang="en-US" b="1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3. **State budget allocations** </a:t>
            </a:r>
            <a:r>
              <a:rPr lang="en-US" b="1" dirty="0">
                <a:effectLst/>
                <a:latin typeface="Consolas" panose="020B0609020204030204" pitchFamily="49" charset="0"/>
              </a:rPr>
              <a:t>to the education sector across major sub-sectors (2001–2025 projected)</a:t>
            </a:r>
          </a:p>
          <a:p>
            <a:pPr>
              <a:lnSpc>
                <a:spcPts val="1425"/>
              </a:lnSpc>
              <a:buNone/>
            </a:pPr>
            <a:br>
              <a:rPr lang="en-US" b="1" dirty="0">
                <a:effectLst/>
                <a:latin typeface="Consolas" panose="020B0609020204030204" pitchFamily="49" charset="0"/>
              </a:rPr>
            </a:br>
            <a:endParaRPr lang="en-US" b="1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1" dirty="0">
                <a:effectLst/>
                <a:latin typeface="Consolas" panose="020B0609020204030204" pitchFamily="49" charset="0"/>
              </a:rPr>
              <a:t>The datasets are trilingual (Kyrgyz, Russian, English) and reflect post-Soviet education system transformations.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3ED880C1-56B9-9068-2ECE-1B21F80C148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latin typeface="Consolas" panose="020B0609020204030204" pitchFamily="49" charset="0"/>
              </a:rPr>
              <a:t>   </a:t>
            </a:r>
          </a:p>
          <a:p>
            <a:pPr>
              <a:lnSpc>
                <a:spcPts val="1425"/>
              </a:lnSpc>
              <a:buNone/>
            </a:pPr>
            <a:r>
              <a:rPr lang="en-US" b="1" dirty="0"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Dataset Description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54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94F3D-A4F1-5298-AFEE-CA71FF6EBA8F}"/>
              </a:ext>
            </a:extLst>
          </p:cNvPr>
          <p:cNvSpPr txBox="1"/>
          <p:nvPr/>
        </p:nvSpPr>
        <p:spPr>
          <a:xfrm>
            <a:off x="479181" y="1626031"/>
            <a:ext cx="7983414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425"/>
              </a:lnSpc>
              <a:buAutoNum type="arabicPeriod"/>
            </a:pPr>
            <a:r>
              <a:rPr lang="en-US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How has population literacy evolved across the four census years (1989–2022)?</a:t>
            </a:r>
          </a:p>
          <a:p>
            <a:pPr marL="342900" indent="-342900">
              <a:lnSpc>
                <a:spcPts val="1425"/>
              </a:lnSpc>
              <a:buAutoNum type="arabicPeriod"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What is the overall trend in international student enrollment, and do CIS and non-CIS students follow different growth patterns?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Is there a statistically significant correlation between the national education budget and international student enrollment?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How is the education budget allocated across sub-sectors such as pre-school, general secondary, higher, and vocational education?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5. Is the growth in non-CIS students significantly different from CIS students (hypothesis test)?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B0FC7C5-5DEA-E977-2B06-A7164AB6A33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1" dirty="0">
                <a:latin typeface="Consolas" panose="020B0609020204030204" pitchFamily="49" charset="0"/>
              </a:rPr>
              <a:t>   </a:t>
            </a:r>
          </a:p>
          <a:p>
            <a:pPr>
              <a:lnSpc>
                <a:spcPts val="1425"/>
              </a:lnSpc>
            </a:pPr>
            <a:r>
              <a:rPr lang="en-US" b="1" dirty="0"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chemeClr val="bg1"/>
                </a:solidFill>
              </a:rPr>
              <a:t> Research Questions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77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Descriptive Statistics — International Students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6868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(2010–2024)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25th percentile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(50th)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75th percentile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133088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Summary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CIS: 9,814 (2010) → 25,073 (2024) | Peak 57,103 (2021) | CAGR 6.93%     Non-CIS: 3,366 (2010) → 24,480 (2024) | Peak 25,774 (2023) | CAGR 15.23%     </a:t>
            </a: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13,180 (2010) → 49,553 (2024) | Peak 80,701 (2021) | CAGR 9.92%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Year-on-Year Growth Rates (%)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777240"/>
          <a:ext cx="7269480" cy="42062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Growth%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NonCIS Growth%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Growth%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-22.86%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+12.86%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+15.87%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+36.21%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+14.52%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+22.31%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36,596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+140.18%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+43.13%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+86.47%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+108.51%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+73.29%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+20.84%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71,674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55,827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49,553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CIS surge 2019–2021 reflects registration/data reclassification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AACC92-A1E9-1981-0DEF-F1AA2E5DE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9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FCCBF8-F824-E7E4-6336-81F3580D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0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3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Normality Tests &amp; Correlation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Normality Tests (α = 0.05)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929159"/>
              </p:ext>
            </p:extLst>
          </p:nvPr>
        </p:nvGraphicFramePr>
        <p:xfrm>
          <a:off x="274320" y="1115568"/>
          <a:ext cx="4114800" cy="213577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W-stat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YoY growth%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YoY growth%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Correlations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15568"/>
          <a:ext cx="420624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vs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vs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vs Non-CIS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+0.8561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+0.7893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Correlation Matrix</a:t>
            </a:r>
            <a:endParaRPr lang="en-US" sz="12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47872"/>
          <a:ext cx="859536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Linear Regression: Total Students ~ Education Budget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46888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" y="777240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22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0.82753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" y="1371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1 mln som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777240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822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2968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-1,936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879592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79592" y="777240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8229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(Pearson)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46888" y="1801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" y="1801368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184708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" y="2048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6616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 variance explained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63240" y="1801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63240" y="1801368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184708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R²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72968" y="2048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879592" y="1801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79592" y="1801368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84708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0482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0.001709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89320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6888" y="282549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6888" y="2825496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Error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" y="30723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0.21030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063240" y="282549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063240" y="2825496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2968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72968" y="30723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16,430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172968" y="34198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79592" y="282549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79592" y="2825496"/>
            <a:ext cx="54864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30723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12,825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989320" y="341985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6888" y="3822192"/>
            <a:ext cx="8650224" cy="4114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slope: [0.37320, 1.28185]   ·   Equation: Ŷ = 0.82753 × Budget − 1,935.92   ·   n =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6DABE1-0D77-FA24-BBB5-454B5B991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8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90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Hypothesis Testing — CIS vs Non-CIS Growth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Descriptive Statistics (Annual YoY %)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508409"/>
              </p:ext>
            </p:extLst>
          </p:nvPr>
        </p:nvGraphicFramePr>
        <p:xfrm>
          <a:off x="274320" y="1097280"/>
          <a:ext cx="3200400" cy="233876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749040" y="777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49040" y="1097280"/>
            <a:ext cx="51206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5"/>
          <p:cNvSpPr/>
          <p:nvPr/>
        </p:nvSpPr>
        <p:spPr>
          <a:xfrm>
            <a:off x="3858768" y="1143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(one-tailed)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58768" y="1389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mean growth Non-CIS ≤ CIS   ·   t-statistic = 0.1141   ·   p (two-tailed) = 0.9107   ·   p (one-tailed) = 0.4553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95160" y="1234440"/>
            <a:ext cx="173736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1234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2194560"/>
            <a:ext cx="51206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58768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test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58768" y="24871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alternative   ·   U-statistic = 135.0   ·   p-value = 0.0468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95160" y="2331720"/>
            <a:ext cx="173736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23317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3291840"/>
            <a:ext cx="5120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58768" y="3337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Effect Size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58768" y="35844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0.0431   ·   (small effect)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95160" y="3429000"/>
            <a:ext cx="1737360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EFFECT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361688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Mann-Whitney U test (p=0.0468) rejects H₀ at α=0.05, but Welch t-test (p=0.4553) fails to reject. Mixed results due to CIS outliers (140% spike in 2019). Cohen's d = 0.04 indicates negligible practical effect.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022297-89EB-C053-59A3-0210B64C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773" y="0"/>
            <a:ext cx="9119334" cy="498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70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Literacy Analysis — Census Years 1989–2022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611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89→22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pop. (15+)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2,661,901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3,090,680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3,738,226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4,645,716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professional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251,246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324,414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463,346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1,134,147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higher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133,196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226,059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+422.8%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professional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418,716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333,181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264,208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819,150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general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1,040,494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1,545,626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1,968,846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1,607,987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secondary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489,786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566,351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443,594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442,062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240,922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193,767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203,717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education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177,492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79,635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49,152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Illiterates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80,417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45312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Higher education: 251,246 → 1,134,147 (+351%)   ·   Illiterates: 80,417 → 86,330 (+7.4%)  ·  Near-universal literacy achieved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Education Budget — Statistical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9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2,848 mln som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969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2801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83,924 mln som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478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788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2,847.2%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78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2001–2024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788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15.85% / yr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4048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Preschool (mean)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297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3,635 mln som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38912" y="4846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~12.9% of 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84048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84048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 (mean)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2976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3,655 mln som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73752" y="4846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~13.0% of total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Descriptive Statistics (mln som)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846320"/>
          <a:ext cx="8595360" cy="1036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Preschool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Edu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5C4C1D-C6A7-97B9-6F6D-3C9CD8DC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23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88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732F40-F571-DDDF-08BC-F62179479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9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01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Complete Statistical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4528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 2010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9,814 → 25,073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CAGR 2010–2024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6.93%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 2010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3,366 → 24,480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CAGR 2010–2024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15.23%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total enrollment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80,701 (2021)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 (Total vs Budget)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 (Total vs Budget)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0.5436 (54.4%)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 p-value (one-tailed)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0.4553 → 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 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0.0468 →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2001 (mln som)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2024 (mln som)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CAGR 2001–2024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15.85%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education growth 1989→2022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Illiteracy change 1989→2022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 (80,417 → 86,330)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11 · Conclusion, Opinion &amp; Recommendations</a:t>
            </a:r>
          </a:p>
        </p:txBody>
      </p:sp>
      <p:sp>
        <p:nvSpPr>
          <p:cNvPr id="3" name="AccentBar"/>
          <p:cNvSpPr/>
          <p:nvPr/>
        </p:nvSpPr>
        <p:spPr>
          <a:xfrm>
            <a:off x="274320" y="777240"/>
            <a:ext cx="859536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</a:ln>
        </p:spPr>
      </p:sp>
      <p:sp>
        <p:nvSpPr>
          <p:cNvPr id="4" name="LeftColBg"/>
          <p:cNvSpPr/>
          <p:nvPr/>
        </p:nvSpPr>
        <p:spPr>
          <a:xfrm>
            <a:off x="274320" y="850000"/>
            <a:ext cx="4150000" cy="4700000"/>
          </a:xfrm>
          <a:prstGeom prst="rect">
            <a:avLst/>
          </a:prstGeom>
          <a:solidFill>
            <a:srgbClr val="0F2044"/>
          </a:solidFill>
          <a:ln w="19050">
            <a:solidFill>
              <a:srgbClr val="0D7377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</a:rPr>
              <a:t>WHAT THE DATA SHOWS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</a:rPr>
              <a:t>▶ Strong International Growth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Total enrollment grew from 13,180 to 49,553 (+276%). Non-CIS CAGR of 15.23%/yr shows Kyrgyzstan’s rise as a global education destination.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</a:rPr>
              <a:t>▶ Budget Drives Enrollment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Spearman ρ = 0.90 and R² = 0.54 confirm a strong budget-enrollment link. 29.5x budget growth since 2001 is funding real expansion.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</a:rPr>
              <a:t>▶ Higher Education Boom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Degree holders grew +351% (1989–2022). Near-universal literacy achieved. The structural education shift from elementary to tertiary is clear and encouraging.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</a:rPr>
              <a:t>⚠ Illiteracy is Rising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Absolute illiteracy grew +7.4% to 86,330. This paradox alongside booming higher education demands urgent targeted policy in rural and marginalized communities.</a:t>
            </a:r>
          </a:p>
        </p:txBody>
      </p:sp>
      <p:sp>
        <p:nvSpPr>
          <p:cNvPr id="5" name="RightCol"/>
          <p:cNvSpPr/>
          <p:nvPr/>
        </p:nvSpPr>
        <p:spPr>
          <a:xfrm>
            <a:off x="4606680" y="850000"/>
            <a:ext cx="4263000" cy="4700000"/>
          </a:xfrm>
          <a:prstGeom prst="rect">
            <a:avLst/>
          </a:prstGeom>
          <a:solidFill>
            <a:srgbClr val="0F2044"/>
          </a:solidFill>
          <a:ln w="19050">
            <a:solidFill>
              <a:srgbClr val="F4A261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</a:rPr>
              <a:t>MY OPINION &amp; ADVICE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1. Diversify Student Sources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CIS students peaked at 57,103 and are now declining. Kyrgyzstan must aggressively recruit from South Asia, Africa, and the Middle East where Non-CIS CAGR (15.23%) shows strong, growing demand.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2. Invest in Quality, Not Just Quantity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R² = 0.54 means 46% of enrollment variance is unexplained by budget. English-language programs, international accreditation, and research output will attract students that spending alone cannot.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3. Fix the Illiteracy Paradox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A nation cannot call its education system successful while illiteracy grows. Fund adult literacy programs and strengthen rural primary schools. No university expansion justifies neglecting the basics.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4. Standardize Data Collection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</a:rPr>
              <a:t>The 140% CIS spike in 2019 and conflicting hypothesis test results reveal data reliability gaps. Transparent, standardized enrollment reporting is the foundation of evidence-based education policy.</a:t>
            </a:r>
          </a:p>
        </p:txBody>
      </p:sp>
      <p:sp>
        <p:nvSpPr>
          <p:cNvPr id="6" name="Tagline"/>
          <p:cNvSpPr/>
          <p:nvPr/>
        </p:nvSpPr>
        <p:spPr>
          <a:xfrm>
            <a:off x="274320" y="56800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ECDC4"/>
                </a:solidFill>
                <a:latin typeface="Calibri" pitchFamily="34" charset="0"/>
              </a:rPr>
              <a:t>Kyrgyzstan Education Statistics · Pure Statistical Analysis · The data tells a story of remarkable growth with important unfinished work ahead.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1617</Words>
  <Application>Microsoft Office PowerPoint</Application>
  <PresentationFormat>Экран (16:9)</PresentationFormat>
  <Paragraphs>478</Paragraphs>
  <Slides>18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Kyrgyzstan Education Statistics</dc:title>
  <dc:subject>PptxGenJS Presentation</dc:subject>
  <dc:creator>PptxGenJS</dc:creator>
  <cp:lastModifiedBy>Muhamed-Ali Habibullaev</cp:lastModifiedBy>
  <cp:revision>5</cp:revision>
  <dcterms:created xsi:type="dcterms:W3CDTF">2026-04-28T10:19:41Z</dcterms:created>
  <dcterms:modified xsi:type="dcterms:W3CDTF">2026-04-29T09:44:50Z</dcterms:modified>
</cp:coreProperties>
</file>