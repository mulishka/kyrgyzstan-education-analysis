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7" r:id="rId9"/>
    <p:sldId id="262" r:id="rId10"/>
    <p:sldId id="271" r:id="rId11"/>
    <p:sldId id="263" r:id="rId12"/>
    <p:sldId id="264" r:id="rId13"/>
    <p:sldId id="268" r:id="rId14"/>
    <p:sldId id="269" r:id="rId15"/>
    <p:sldId id="265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9778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F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297680"/>
            <a:ext cx="9144000" cy="841248"/>
          </a:xfrm>
          <a:prstGeom prst="rect">
            <a:avLst/>
          </a:prstGeom>
          <a:solidFill>
            <a:srgbClr val="0A1F3E"/>
          </a:solidFill>
          <a:ln w="12700">
            <a:solidFill>
              <a:srgbClr val="0A1F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KYRGYZSTAN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365760" y="1600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 Statistics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8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Statistical Analysis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C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Datasets: literacy.csv  ·  students_cis.csv  ·  students_non_cis.csv  ·  education_budget.csv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37744" y="841248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37744" y="841248"/>
            <a:ext cx="2743200" cy="640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" y="10058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80,701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37744" y="17556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total enrollment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7744" y="21671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36392" y="841248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36392" y="841248"/>
            <a:ext cx="2743200" cy="640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36392" y="10058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15.23%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136392" y="17556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Non-CIS CAGR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36392" y="21671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2010–2024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5040" y="841248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35040" y="841248"/>
            <a:ext cx="2743200" cy="640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0058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29.5×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035040" y="17556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growth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35040" y="21671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2001–2024 nominal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" y="2734056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37744" y="2734056"/>
            <a:ext cx="2743200" cy="640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7744" y="2898648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+0.74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237744" y="364845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7744" y="405993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Students vs Budget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136392" y="2734056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136392" y="2734056"/>
            <a:ext cx="2743200" cy="640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36392" y="2898648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54.4%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3136392" y="364845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R²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136392" y="405993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→ Students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35040" y="2734056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2734056"/>
            <a:ext cx="2743200" cy="64008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35040" y="2898648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+351%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035040" y="364845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education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035040" y="405993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1989–2022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Descriptive Statistics — International Students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22960"/>
          <a:ext cx="8686800" cy="3200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(2010–2024)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Deviation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25th percentile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(50th)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75th percentile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21,564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25,774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80,701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4114800"/>
            <a:ext cx="8595360" cy="82296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4133088"/>
            <a:ext cx="84124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Summary  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CIS: 9,814 (2010) → 25,073 (2024) | Peak 57,103 (2021) | CAGR 6.93%     Non-CIS: 3,366 (2010) → 24,480 (2024) | Peak 25,774 (2023) | CAGR 15.23%     </a:t>
            </a: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13,180 (2010) → 49,553 (2024) | Peak 80,701 (2021) | CAGR 9.92%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Year-on-Year Growth Rates (%)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777240"/>
          <a:ext cx="7269480" cy="42062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Growth%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NonCIS Growth%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Growth%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-22.86%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+12.86%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+5.51%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+3.54%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+22.79%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+1.23%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+36.21%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10,862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+22.31%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36,596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+140.18%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+43.13%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+86.47%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43,889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+108.51%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+25.61%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+73.29%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80,701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+30.11%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+20.84%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+27.25%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46,353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71,674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+7.30%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25,774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55,827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28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24,480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49,553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274320" y="4892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CIS surge 2019–2021 reflects registration/data reclassification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AACC92-A1E9-1981-0DEF-F1AA2E5DE9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193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Normality Tests &amp; Correlation Analysis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Shapiro-Wilk Normality Tests (α = 0.05)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15568"/>
          <a:ext cx="4114800" cy="213577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W-stat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students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YoY growth%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73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YoY growth%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4663440" y="7772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&amp; Spearman Correlations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15568"/>
          <a:ext cx="4206240" cy="155448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Pearson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 ρ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73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vs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+0.7373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+0.9036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vs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+0.6064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vs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+0.9093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+0.9786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vs Non-CIS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+0.8561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274320" y="320040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Correlation Matrix</a:t>
            </a:r>
            <a:endParaRPr lang="en-US" sz="12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547872"/>
          <a:ext cx="8595360" cy="14630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Students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D73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Linear Regression: Total Students ~ Education Budget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46888" y="777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46888" y="777240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6616" y="82296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56616" y="102412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0.82753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56616" y="1371600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1 mln som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63240" y="777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63240" y="777240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72968" y="82296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72968" y="102412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-1,936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879592" y="7772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879592" y="777240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89320" y="822960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(Pearson)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89320" y="1024128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0.7373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246888" y="1801368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6888" y="1801368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" y="1847088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56616" y="20482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0.5436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56616" y="239572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54.4% variance explained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63240" y="1801368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063240" y="1801368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72968" y="1847088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Adj. R²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72968" y="20482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0.5085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879592" y="1801368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879592" y="1801368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89320" y="1847088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89320" y="2048256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0.001709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989320" y="239572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46888" y="2825496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46888" y="2825496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6616" y="287121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 Error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56616" y="307238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0.21030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3063240" y="2825496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063240" y="2825496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72968" y="287121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172968" y="307238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16,430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3172968" y="341985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879592" y="2825496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50800" dist="254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79592" y="2825496"/>
            <a:ext cx="54864" cy="914400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89320" y="2871216"/>
            <a:ext cx="2514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89320" y="3072384"/>
            <a:ext cx="2514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12,825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5989320" y="3419856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46888" y="3822192"/>
            <a:ext cx="8650224" cy="41148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0040" y="3840480"/>
            <a:ext cx="8503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for slope: [0.37320, 1.28185]   ·   Equation: Ŷ = 0.82753 × Budget − 1,935.92   ·   n = 15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36DABE1-0D77-FA24-BBB5-454B5B991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8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90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Hypothesis Testing — CIS vs Non-CIS Growth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Rate Descriptive Statistics (Annual YoY %)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3200400" cy="2285997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657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140.18%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749040" y="7772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749040" y="1097280"/>
            <a:ext cx="5120640" cy="1005840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5" name="Text 5"/>
          <p:cNvSpPr/>
          <p:nvPr/>
        </p:nvSpPr>
        <p:spPr>
          <a:xfrm>
            <a:off x="3858768" y="114300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 t-test (one-tailed)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858768" y="138988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H₀: mean growth Non-CIS ≤ CIS   ·   t-statistic = 0.1141   ·   p (two-tailed) = 0.9107   ·   p (one-tailed) = 0.4553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995160" y="1234440"/>
            <a:ext cx="1737360" cy="685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95160" y="123444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TO REJECT H₀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749040" y="2194560"/>
            <a:ext cx="5120640" cy="100584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858768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 test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858768" y="248716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 alternative   ·   U-statistic = 135.0   ·   p-value = 0.0468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995160" y="2331720"/>
            <a:ext cx="1737360" cy="685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95160" y="233172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H₀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749040" y="3291840"/>
            <a:ext cx="512064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blurRad="38100" dist="12700" dir="8100000" algn="bl" rotWithShape="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858768" y="333756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Cohen's d Effect Size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858768" y="3584448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0.0431   ·   (small effect)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995160" y="3429000"/>
            <a:ext cx="1737360" cy="6858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95160" y="3429000"/>
            <a:ext cx="1737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EFFECT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74320" y="4343400"/>
            <a:ext cx="859536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5760" y="4361688"/>
            <a:ext cx="84124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Mann-Whitney U test (p=0.0468) rejects H₀ at α=0.05, but Welch t-test (p=0.4553) fails to reject. Mixed results due to CIS outliers (140% spike in 2019). Cohen's d = 0.04 indicates negligible practical effect.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B022297-89EB-C053-59A3-0210B64C5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773" y="0"/>
            <a:ext cx="9119334" cy="4980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670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Literacy Analysis — Census Years 1989–2022</a:t>
            </a:r>
            <a:endParaRPr lang="en-US" sz="2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36118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Level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89→22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pop. (15+)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2,661,901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3,090,680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3,738,226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4,645,716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professional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251,246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324,414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463,346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1,134,147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+351.4%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 higher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43,245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133,196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226,059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Sec. professional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418,716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333,181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264,208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+95.6%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general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1,545,626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1,968,846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1,607,987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Incomplete secondary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489,786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566,351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443,594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442,062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Elementary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240,922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193,767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203,717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182,196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 education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177,492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79,635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49,152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11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Illiterates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80,417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28,358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86,330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274320" y="4434840"/>
            <a:ext cx="8595360" cy="54864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4453128"/>
            <a:ext cx="84124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Higher education: 251,246 → 1,134,147 (+351%)   ·   Illiterates: 80,417 → 86,330 (+7.4%)  ·  Near-universal literacy achieved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2F5A"/>
          </a:solidFill>
          <a:ln w="12700">
            <a:solidFill>
              <a:srgbClr val="1A2F5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· Education Budget — Statistical Summary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9692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2001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128016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2,848 mln som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709160" y="82296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82296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73752" y="9692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2024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73752" y="128016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83,924 mln som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74320" y="233172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33172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24780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Nominal Growth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8912" y="278892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2,847.2%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38912" y="333756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2001–2024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233172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233172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73752" y="247802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2001–2024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73752" y="278892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15.85% / yr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384048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84048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" y="398678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Preschool (mean)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8912" y="429768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3,635 mln som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38912" y="48463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~12.9% of total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709160" y="3840480"/>
            <a:ext cx="416052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3840480"/>
            <a:ext cx="4160520" cy="73152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73752" y="398678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Edu (mean)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73752" y="4297680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3,655 mln som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4873752" y="484632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4B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~13.0% of total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74320" y="457200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2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Descriptive Statistics (mln som)</a:t>
            </a:r>
            <a:endParaRPr lang="en-US" sz="10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846320"/>
          <a:ext cx="8595360" cy="10363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Preschool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Edu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F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55C4C1D-C6A7-97B9-6F6D-3C9CD8DC3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9233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588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7732F40-F571-DDDF-08BC-F62179479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59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201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F5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Complete Statistical Summary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274320" y="777240"/>
            <a:ext cx="859536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68680"/>
          <a:ext cx="8595360" cy="4145280"/>
        </p:xfrm>
        <a:graphic>
          <a:graphicData uri="http://schemas.openxmlformats.org/drawingml/2006/table">
            <a:tbl>
              <a:tblPr/>
              <a:tblGrid>
                <a:gridCol w="5303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students 2010 →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9,814 → 25,073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CIS CAGR 2010–2024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6.93% per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students 2010 →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 → 24,480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Non-CIS CAGR 2010–2024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15.23% per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 total enrollment (year)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80,701 (2021)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Pearson r (Total vs Budget)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+0.7373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 ρ (Total vs Budget)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+0.9036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 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0.5436 (54.4%)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Welch t-test p-value (one-tailed)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0.4553 → Fail to reject H₀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Mann-Whitney U p-value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0.0468 → Reject H₀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2001 (mln som)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2024 (mln som)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CAGR 2001–2024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15.85% per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education growth 1989→2022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31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Illiteracy change 1989→2022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+7.4% (80,417 → 86,330)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2D4A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clusion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274320" y="18288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</a:rPr>
              <a:t>11 · Conclusion, Opinion &amp; Recommendations</a:t>
            </a:r>
          </a:p>
        </p:txBody>
      </p:sp>
      <p:sp>
        <p:nvSpPr>
          <p:cNvPr id="3" name="AccentBar"/>
          <p:cNvSpPr/>
          <p:nvPr/>
        </p:nvSpPr>
        <p:spPr>
          <a:xfrm>
            <a:off x="274320" y="777240"/>
            <a:ext cx="8595360" cy="36576"/>
          </a:xfrm>
          <a:prstGeom prst="rect">
            <a:avLst/>
          </a:prstGeom>
          <a:solidFill>
            <a:srgbClr val="0D7377"/>
          </a:solidFill>
          <a:ln w="12700">
            <a:solidFill>
              <a:srgbClr val="0D7377"/>
            </a:solidFill>
          </a:ln>
        </p:spPr>
      </p:sp>
      <p:sp>
        <p:nvSpPr>
          <p:cNvPr id="4" name="LeftColBg"/>
          <p:cNvSpPr/>
          <p:nvPr/>
        </p:nvSpPr>
        <p:spPr>
          <a:xfrm>
            <a:off x="274320" y="850000"/>
            <a:ext cx="4150000" cy="4700000"/>
          </a:xfrm>
          <a:prstGeom prst="rect">
            <a:avLst/>
          </a:prstGeom>
          <a:solidFill>
            <a:srgbClr val="0F2044"/>
          </a:solidFill>
          <a:ln w="19050">
            <a:solidFill>
              <a:srgbClr val="0D7377"/>
            </a:solidFill>
          </a:ln>
        </p:spPr>
        <p:txBody>
          <a:bodyPr wrap="square" lIns="152400" tIns="152400" rIns="152400" bIns="15240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D7377"/>
                </a:solidFill>
                <a:latin typeface="Calibri" pitchFamily="34" charset="0"/>
              </a:rPr>
              <a:t>WHAT THE DATA SHOWS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4ECDC4"/>
                </a:solidFill>
                <a:latin typeface="Calibri" pitchFamily="34" charset="0"/>
              </a:rPr>
              <a:t>▶ Strong International Growth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Total enrollment grew from 13,180 to 49,553 (+276%). Non-CIS CAGR of 15.23%/yr shows Kyrgyzstan’s rise as a global education destination.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4ECDC4"/>
                </a:solidFill>
                <a:latin typeface="Calibri" pitchFamily="34" charset="0"/>
              </a:rPr>
              <a:t>▶ Budget Drives Enrollment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Spearman ρ = 0.90 and R² = 0.54 confirm a strong budget-enrollment link. 29.5x budget growth since 2001 is funding real expansion.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4ECDC4"/>
                </a:solidFill>
                <a:latin typeface="Calibri" pitchFamily="34" charset="0"/>
              </a:rPr>
              <a:t>▶ Higher Education Boom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Degree holders grew +351% (1989–2022). Near-universal literacy achieved. The structural education shift from elementary to tertiary is clear and encouraging.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</a:rPr>
              <a:t>⚠ Illiteracy is Rising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Absolute illiteracy grew +7.4% to 86,330. This paradox alongside booming higher education demands urgent targeted policy in rural and marginalized communities.</a:t>
            </a:r>
          </a:p>
        </p:txBody>
      </p:sp>
      <p:sp>
        <p:nvSpPr>
          <p:cNvPr id="5" name="RightCol"/>
          <p:cNvSpPr/>
          <p:nvPr/>
        </p:nvSpPr>
        <p:spPr>
          <a:xfrm>
            <a:off x="4606680" y="850000"/>
            <a:ext cx="4263000" cy="4700000"/>
          </a:xfrm>
          <a:prstGeom prst="rect">
            <a:avLst/>
          </a:prstGeom>
          <a:solidFill>
            <a:srgbClr val="0F2044"/>
          </a:solidFill>
          <a:ln w="19050">
            <a:solidFill>
              <a:srgbClr val="F4A261"/>
            </a:solidFill>
          </a:ln>
        </p:spPr>
        <p:txBody>
          <a:bodyPr wrap="square" lIns="152400" tIns="152400" rIns="152400" bIns="15240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4A261"/>
                </a:solidFill>
                <a:latin typeface="Calibri" pitchFamily="34" charset="0"/>
              </a:rPr>
              <a:t>MY OPINION &amp; ADVICE</a:t>
            </a:r>
          </a:p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1. Diversify Student Sources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CIS students peaked at 57,103 and are now declining. Kyrgyzstan must aggressively recruit from South Asia, Africa, and the Middle East where Non-CIS CAGR (15.23%) shows strong, growing demand.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2. Invest in Quality, Not Just Quantity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R² = 0.54 means 46% of enrollment variance is unexplained by budget. English-language programs, international accreditation, and research output will attract students that spending alone cannot.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3. Fix the Illiteracy Paradox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A nation cannot call its education system successful while illiteracy grows. Fund adult literacy programs and strengthen rural primary schools. No university expansion justifies neglecting the basics.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</a:rPr>
              <a:t> </a:t>
            </a:r>
          </a:p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</a:rPr>
              <a:t>4. Standardize Data Collection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</a:rPr>
              <a:t>The 140% CIS spike in 2019 and conflicting hypothesis test results reveal data reliability gaps. Transparent, standardized enrollment reporting is the foundation of evidence-based education policy.</a:t>
            </a:r>
          </a:p>
        </p:txBody>
      </p:sp>
      <p:sp>
        <p:nvSpPr>
          <p:cNvPr id="6" name="Tagline"/>
          <p:cNvSpPr/>
          <p:nvPr/>
        </p:nvSpPr>
        <p:spPr>
          <a:xfrm>
            <a:off x="274320" y="568000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4ECDC4"/>
                </a:solidFill>
                <a:latin typeface="Calibri" pitchFamily="34" charset="0"/>
              </a:rPr>
              <a:t>Kyrgyzstan Education Statistics · Pure Statistical Analysis · The data tells a story of remarkable growth with important unfinished work ahead.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1448</Words>
  <Application>Microsoft Office PowerPoint</Application>
  <PresentationFormat>Экран (16:9)</PresentationFormat>
  <Paragraphs>475</Paragraphs>
  <Slides>16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Kyrgyzstan Education Statistics</dc:title>
  <dc:subject>PptxGenJS Presentation</dc:subject>
  <dc:creator>PptxGenJS</dc:creator>
  <cp:lastModifiedBy>Muhamed-Ali Habibullaev</cp:lastModifiedBy>
  <cp:revision>3</cp:revision>
  <dcterms:created xsi:type="dcterms:W3CDTF">2026-04-28T10:19:41Z</dcterms:created>
  <dcterms:modified xsi:type="dcterms:W3CDTF">2026-04-29T08:28:53Z</dcterms:modified>
</cp:coreProperties>
</file>